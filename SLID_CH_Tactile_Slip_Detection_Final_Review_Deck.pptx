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Approach A (Sensor-Only IMU)</c:v>
                </c:pt>
              </c:strCache>
            </c:strRef>
          </c:tx>
          <c:cat>
            <c:strRef>
              <c:f>Sheet1!$A$2:$A$6</c:f>
              <c:strCache>
                <c:ptCount val="5"/>
                <c:pt idx="0">
                  <c:v>LogReg</c:v>
                </c:pt>
                <c:pt idx="1">
                  <c:v>KNN</c:v>
                </c:pt>
                <c:pt idx="2">
                  <c:v>Random Forest</c:v>
                </c:pt>
                <c:pt idx="3">
                  <c:v>LightGBM</c:v>
                </c:pt>
                <c:pt idx="4">
                  <c:v>CatBoost (SOTA)</c:v>
                </c:pt>
              </c:strCache>
            </c:strRef>
          </c:cat>
          <c:val>
            <c:numRef>
              <c:f>Sheet1!$B$2:$B$6</c:f>
              <c:numCache>
                <c:formatCode>General</c:formatCode>
                <c:ptCount val="5"/>
                <c:pt idx="0">
                  <c:v>71.29</c:v>
                </c:pt>
                <c:pt idx="1">
                  <c:v>74.61</c:v>
                </c:pt>
                <c:pt idx="2">
                  <c:v>82.81</c:v>
                </c:pt>
                <c:pt idx="3">
                  <c:v>83.46</c:v>
                </c:pt>
                <c:pt idx="4">
                  <c:v>84.55</c:v>
                </c:pt>
              </c:numCache>
            </c:numRef>
          </c:val>
        </c:ser>
        <c:ser>
          <c:idx val="1"/>
          <c:order val="1"/>
          <c:tx>
            <c:strRef>
              <c:f>Sheet1!$C$1</c:f>
              <c:strCache>
                <c:ptCount val="1"/>
                <c:pt idx="0">
                  <c:v>Approach B (Object-Aware)</c:v>
                </c:pt>
              </c:strCache>
            </c:strRef>
          </c:tx>
          <c:cat>
            <c:strRef>
              <c:f>Sheet1!$A$2:$A$6</c:f>
              <c:strCache>
                <c:ptCount val="5"/>
                <c:pt idx="0">
                  <c:v>LogReg</c:v>
                </c:pt>
                <c:pt idx="1">
                  <c:v>KNN</c:v>
                </c:pt>
                <c:pt idx="2">
                  <c:v>Random Forest</c:v>
                </c:pt>
                <c:pt idx="3">
                  <c:v>LightGBM</c:v>
                </c:pt>
                <c:pt idx="4">
                  <c:v>CatBoost (SOTA)</c:v>
                </c:pt>
              </c:strCache>
            </c:strRef>
          </c:cat>
          <c:val>
            <c:numRef>
              <c:f>Sheet1!$C$2:$C$6</c:f>
              <c:numCache>
                <c:formatCode>General</c:formatCode>
                <c:ptCount val="5"/>
                <c:pt idx="0">
                  <c:v>88.23</c:v>
                </c:pt>
                <c:pt idx="1">
                  <c:v>92.08</c:v>
                </c:pt>
                <c:pt idx="2">
                  <c:v>94.79</c:v>
                </c:pt>
                <c:pt idx="3">
                  <c:v>95.64</c:v>
                </c:pt>
                <c:pt idx="4">
                  <c:v>96.09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t"/>
      <c:overlay val="0"/>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our team presents an end-to-end data science and machine learning pipeline addressing a fundamental challenge in robotic manipulation: can a compliant robot fingertip feel an object slipping before it actually drops? Over this presentation, we follow a complete data science journey: from raw 12-channel micro-vibrations, rigorous cleaning, kinematic labelling, and feature engineering, through class-taught exploratory visualizations, five classical algorithms, ending on an unexpected finding regarding object identity and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robotic manipulation, grasping is traditionally blind. If a robot grasps too softly, the object slips and drops. If it clamps too hard to prevent slip, it crushes delicate items like soda cans or fruit. Vision cannot see the contact patch due to finger occlusion. Human fingertips solve this through mechanoreceptors detecting high-frequency friction vibrations. Here, we examine whether low-cost IMUs embedded inside compliant silicone fingertips can deliver the same tactile reflex using classical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core research question translates into five specific objectives. First, we rigorously audit the SLID-CH dataset to remove sensor artifacts and non-contact flight phases. Second, we transform raw signals into eighty-four hand-crafted features across forty thousand sliding windows. Third, we benchmark five classical algorithms under strict zero-leakage group cross-validation. Fourth, we contrast pure IMU sensing against object-aware models. Finally, we dissect failure modes under noise and extreme class imbalance.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establish context, we benchmark our approach against the primary reference paper on the SLID-CH dataset by Cravetz and colleagues, published in Frontiers in Robotics and AI in late 2025. They applied a 1D Convolutional Neural Network directly on raw signals, reporting an F1 score of around 0.70, or ninety-three percent precision when recall was constrained to twenty-five percent. Importantly, they noted severe precision degradation on the Pringles can. Our classical pipeline replaces the black-box CNN with eighty-four statistical features, offering sub-millisecond edge inference and transparent feature importance.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the SLID-CH dataset characteristics. Captured on an open-source compliant robotic hand, it contains one hundred and ninety-five physical trials across five distinct household items: plastic cup, Rubik's cube, pudding box, Pringles can, and soup can. Each trial records twelve continuous IMU channels at one hundred and twenty-two Hertz: linear acceleration and angular velocity on both fingertips. In total, this yields seven hundred and twenty-one thousand samples, which we subsequently segment into forty thousand clean two-hundred-and-fifty millisecond windows.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quality directly governs model fidelity. Our cleaning pipeline executes in four stages. First, we confirm zero missing values in the continuous streams and verify timestamp monotonicity. Second, sensor health auditing identified three trials with dead, frozen IMU channels—specifically in Rubik's cube trial B-8-7-9 and two soup can trials—which were safely pruned, reducing the trial pool from 195 to 192. Finally, we masked out seventy-one thousand non-contact air samples where the fingers were opening or closing, ensuring our models learn only from physical object contact.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mathematically establish ground truth? An optical multi-camera motion capture system tracks retro-reflective markers on both fingers and the object. Contact velocity is calculated across four points on the proximal and distal pads. Whenever maximum relative speed exceeds exactly 0.06 meters per second—or 6 centimeters per second—a slip event is recorded. To convert this continuous signal into machine learning instances, we slide a two-hundred-and-fifty millisecond window with fifty percent overlap across the active contact sequence, producing forty thousand distinct instances.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provide rich physical descriptors without neural network latency, we extract seven statistical operations across all twelve channels: mean, standard deviation, variance, minimum, maximum, peak-to-peak range, and root-mean-square. Twelve channels times seven metrics produces exactly eighty-four hand-crafted features per window. Standard deviation and RMS quantify the high-frequency vibration energy generated by stick-slip transitions, while peak-to-peak range and jerk capture sudden acceleration spikes when the object breaks free from static friction.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Introduction to Data Science course, exploratory data analysis emphasized both categorical frequency and numerical spread. On the left panel, plotting the slip percentage per object reveals that while the global dataset is fifty-two percent stable, the Pringles can experiences slip in only 2.7 percent of windows. On the right panel, comparing the fingertip acceleration RMS distributions confirms clear physical separability: during slip events, friction breakdown transfers substantial kinetic energy, shifting the median and upper quartiles upward.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benchmark five fundamentally diverse machine learning architectures. Logistic regression provides our transparent linear baseline. K-nearest neighbors evaluates whether slip events form localized clusters in normalized feature space. Random forest provides a robust bagged ensemble averaging one hundred deep decision trees. Finally, we implement two state-of-the-art gradient boosted decision tree frameworks: LightGBM using leaf-wise growth, and CatBoost using symmetric oblivious trees to minimize target leakage. This span covers linear, distance, and non-linear tree-based paradigms.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time-series data science, validation methodology makes or breaks real-world credibility. If one uses random splitting, adjacent two-hundred-and-fifty millisecond windows from the exact same grasp trial land in both train and test partitions. This leakage artificially produces ninety-nine percent accuracy that crashes immediately on a real robot. Instead, we enforce five-fold GroupKFold grouped strictly by trial ID. Every fold tests on completely unseen grasp trials. Furthermore, we test each model under two configurations: Approach A using only fingertip IMUs, and Approach B where object identity is also provided.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definitive benchmark results across all ten configurations. First, observe that every single model comfortably surpasses the fifty-two percent majority baseline. In Approach A, where models rely strictly on fingertip IMU signals, logistic regression reaches seventy-one percent, Random Forest reaches eighty-two point eight percent, and CatBoost leads at eighty-four point five-five percent accuracy and zero point eight-four F1 score. When object identity is introduced in Approach B, accuracy surges across the board to ninety-six point zero-nine percent. However, this dramatic lift hides a critical statistical trap.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us to the central revelation of our research. If an engineer only looks at overall accuracy, Approach B's ninety-six percent score appears dominant. But when we dissect per-object performance on the Pringles can, we discover that tree models in Approach B detected exactly zero out of two hundred and thirty-three slip events. Because slips occur in only 2.7 percent of Pringles windows, the trees minimized loss by predicting 'no slip' every single time. Meanwhile, our sensor-only Approach A models—ignorant of object identity—successfully caught up to seventy-seven percent of the slips purely from micro-vibrations.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the receiver operating characteristic curves and out-of-fold confusion matrix for our best-performing algorithm, CatBoost. In Approach A, CatBoost achieves an area under the curve of 0.916, demonstrating that raw tactile vibrations provide strong separability across thresholds. When object identity is included in Approach B, the area under the curve rises to 0.989, and false alarms drop by more than seventy-five percent. This confirms our baseline classifier operates with high discriminative power.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pivotal question: why does Approach B score twelve percentage points higher? When we plot CatBoost's feature importance over all training folds, the answer is immediately apparent. In Approach B, the object identity feature alone commands approximately forty percent of the model's total split weight. In contrast, Approach A distributes importance across physical mechanical features: gyroscope rotational velocity and accelerometer root-mean-square. This proves Approach B leverages class priors rather than superior physics.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synthesize Section 15 of our notebook, showing the exact delta between Approach B and Approach A across all five algorithms. Notice that the lift is universal: accuracy increases between eleven and seventeen percentage points, and the false positive rate drops by twelve to sixteen percent. Linear and distance models like Logistic Regression and KNN gain the most from object identity, because it separates classes into distinct dimensional clusters that simple boundaries can divide.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proves the rigorous statistical integrity of our cross-validation. In Section 8 of our notebook, we audited every fold partition to verify that zero trials were shared between training and test sets. With exactly zero leakage, the out-of-fold F1 score for CatBoost varies by less than zero point zero zero seven across all five folds. This confirms our results reflect genuine out-of-sample physical generalization rather than an artifact of a convenient split.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project: first, eighty-four hand-crafted statistical features successfully convert raw 122 Hz IMU streams into a model-ready tabular dataset. Second, CatBoost establishes the state-of-the-art across all benchmarks, reaching eighty-four percent accuracy in sensor-only mode and ninety-six percent when object identity is known. Third, our analysis provides a cautionary lesson: high headline accuracy can mask total detection failure on imbalanced objects. Future work will deploy adaptive thresholding and test leave-one-object-out generalization on physical robotic hands.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FFFFFF"/>
                </a:solidFill>
                <a:latin typeface="Segoe UI"/>
              </a:rPr>
              <a:t>Raw</a:t>
            </a:r>
          </a:p>
        </p:txBody>
      </p:sp>
      <p:sp>
        <p:nvSpPr>
          <p:cNvPr id="4" name="Rounded Rectangle 3"/>
          <p:cNvSpPr/>
          <p:nvPr/>
        </p:nvSpPr>
        <p:spPr>
          <a:xfrm>
            <a:off x="1938528"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Clean</a:t>
            </a:r>
          </a:p>
        </p:txBody>
      </p:sp>
      <p:sp>
        <p:nvSpPr>
          <p:cNvPr id="5" name="Rounded Rectangle 4"/>
          <p:cNvSpPr/>
          <p:nvPr/>
        </p:nvSpPr>
        <p:spPr>
          <a:xfrm>
            <a:off x="3145536"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Label</a:t>
            </a:r>
          </a:p>
        </p:txBody>
      </p:sp>
      <p:sp>
        <p:nvSpPr>
          <p:cNvPr id="6" name="Rounded Rectangle 5"/>
          <p:cNvSpPr/>
          <p:nvPr/>
        </p:nvSpPr>
        <p:spPr>
          <a:xfrm>
            <a:off x="4352544"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Window</a:t>
            </a:r>
          </a:p>
        </p:txBody>
      </p:sp>
      <p:sp>
        <p:nvSpPr>
          <p:cNvPr id="7" name="Rounded Rectangle 6"/>
          <p:cNvSpPr/>
          <p:nvPr/>
        </p:nvSpPr>
        <p:spPr>
          <a:xfrm>
            <a:off x="5559552"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Features</a:t>
            </a:r>
          </a:p>
        </p:txBody>
      </p:sp>
      <p:sp>
        <p:nvSpPr>
          <p:cNvPr id="8" name="Rounded Rectangle 7"/>
          <p:cNvSpPr/>
          <p:nvPr/>
        </p:nvSpPr>
        <p:spPr>
          <a:xfrm>
            <a:off x="6766560"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Explore</a:t>
            </a:r>
          </a:p>
        </p:txBody>
      </p:sp>
      <p:sp>
        <p:nvSpPr>
          <p:cNvPr id="9" name="Rounded Rectangle 8"/>
          <p:cNvSpPr/>
          <p:nvPr/>
        </p:nvSpPr>
        <p:spPr>
          <a:xfrm>
            <a:off x="7973568"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Models</a:t>
            </a:r>
          </a:p>
        </p:txBody>
      </p:sp>
      <p:sp>
        <p:nvSpPr>
          <p:cNvPr id="10" name="Rounded Rectangle 9"/>
          <p:cNvSpPr/>
          <p:nvPr/>
        </p:nvSpPr>
        <p:spPr>
          <a:xfrm>
            <a:off x="9180576"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Results</a:t>
            </a:r>
          </a:p>
        </p:txBody>
      </p:sp>
      <p:sp>
        <p:nvSpPr>
          <p:cNvPr id="11" name="Rounded Rectangle 10"/>
          <p:cNvSpPr/>
          <p:nvPr/>
        </p:nvSpPr>
        <p:spPr>
          <a:xfrm>
            <a:off x="10387584"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Twist</a:t>
            </a:r>
          </a:p>
        </p:txBody>
      </p:sp>
      <p:sp>
        <p:nvSpPr>
          <p:cNvPr id="12" name="TextBox 11"/>
          <p:cNvSpPr txBox="1"/>
          <p:nvPr/>
        </p:nvSpPr>
        <p:spPr>
          <a:xfrm>
            <a:off x="914400" y="1371600"/>
            <a:ext cx="10332720" cy="2377440"/>
          </a:xfrm>
          <a:prstGeom prst="rect">
            <a:avLst/>
          </a:prstGeom>
          <a:noFill/>
        </p:spPr>
        <p:txBody>
          <a:bodyPr wrap="square">
            <a:spAutoFit/>
          </a:bodyPr>
          <a:lstStyle/>
          <a:p>
            <a:pPr>
              <a:defRPr sz="3600" b="1">
                <a:solidFill>
                  <a:srgbClr val="FFFFFF"/>
                </a:solidFill>
                <a:latin typeface="Georgia"/>
              </a:defRPr>
            </a:pPr>
            <a:r>
              <a:t>Can a Robot Fingertip Feel a Slip</a:t>
            </a:r>
            <a:br/>
            <a:r>
              <a:t>Before the Object Falls?</a:t>
            </a:r>
          </a:p>
          <a:p>
            <a:pPr>
              <a:spcBef>
                <a:spcPts val="1400"/>
              </a:spcBef>
              <a:defRPr sz="1600">
                <a:solidFill>
                  <a:srgbClr val="06B6D4"/>
                </a:solidFill>
                <a:latin typeface="Segoe UI"/>
              </a:defRPr>
            </a:pPr>
            <a:r>
              <a:t>An End-to-End Data Science &amp; Classical ML Pipeline for Tactile Slip Detection Using 12-Channel Fingertip IMUs</a:t>
            </a:r>
          </a:p>
        </p:txBody>
      </p:sp>
      <p:sp>
        <p:nvSpPr>
          <p:cNvPr id="13" name="Rounded Rectangle 12"/>
          <p:cNvSpPr/>
          <p:nvPr/>
        </p:nvSpPr>
        <p:spPr>
          <a:xfrm>
            <a:off x="914400" y="3931920"/>
            <a:ext cx="10332720" cy="2194560"/>
          </a:xfrm>
          <a:prstGeom prst="roundRect">
            <a:avLst/>
          </a:prstGeom>
          <a:solidFill>
            <a:srgbClr val="131E3C"/>
          </a:solidFill>
          <a:ln w="15240">
            <a:solidFill>
              <a:srgbClr val="2332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114800"/>
            <a:ext cx="9784080" cy="1828800"/>
          </a:xfrm>
          <a:prstGeom prst="rect">
            <a:avLst/>
          </a:prstGeom>
          <a:noFill/>
        </p:spPr>
        <p:txBody>
          <a:bodyPr wrap="square">
            <a:spAutoFit/>
          </a:bodyPr>
          <a:lstStyle/>
          <a:p>
            <a:pPr>
              <a:defRPr sz="1100" b="1">
                <a:solidFill>
                  <a:srgbClr val="94A3B8"/>
                </a:solidFill>
                <a:latin typeface="Segoe UI"/>
              </a:defRPr>
            </a:pPr>
            <a:r>
              <a:t>COURSE &amp; PROJECT OVERVIEW</a:t>
            </a:r>
          </a:p>
          <a:p>
            <a:pPr>
              <a:spcBef>
                <a:spcPts val="400"/>
              </a:spcBef>
              <a:defRPr sz="1300">
                <a:solidFill>
                  <a:srgbClr val="FFFFFF"/>
                </a:solidFill>
                <a:latin typeface="Segoe UI"/>
              </a:defRPr>
            </a:pPr>
            <a:r>
              <a:t>Introduction to Data Science (23ARE301)  •  Amrita School of Artificial Intelligence  •  Faculty Guide: [placeholder]</a:t>
            </a:r>
          </a:p>
          <a:p>
            <a:pPr>
              <a:spcBef>
                <a:spcPts val="1200"/>
              </a:spcBef>
              <a:defRPr sz="1100" b="1">
                <a:solidFill>
                  <a:srgbClr val="06B6D4"/>
                </a:solidFill>
                <a:latin typeface="Segoe UI"/>
              </a:defRPr>
            </a:pPr>
            <a:r>
              <a:t>PROJECT TEAM (Robotics &amp; Artificial Intelligence):</a:t>
            </a:r>
          </a:p>
          <a:p>
            <a:pPr>
              <a:spcBef>
                <a:spcPts val="400"/>
              </a:spcBef>
              <a:defRPr sz="1300">
                <a:solidFill>
                  <a:srgbClr val="FFFFFF"/>
                </a:solidFill>
                <a:latin typeface="Segoe UI"/>
              </a:defRPr>
            </a:pPr>
            <a:r>
              <a:t>Sai Sharbesh (CB.EN.U4ARE24042)  |  Sanjay S (CB.EN.U4ARE24045)  |  Suyambu Raj (CB.EN.U4ARE24050)</a:t>
            </a:r>
            <a:br/>
            <a:r>
              <a:t>Vishal Subbiah (CB.EN.U4ARE24055)  |  Vishal Krishnaa R (CB.EN.U4ARE24057)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Robotic Grasping Requires Tactile Reflexes to Avoid Failure</a:t>
            </a:r>
          </a:p>
          <a:p>
            <a:pPr>
              <a:defRPr sz="1250">
                <a:solidFill>
                  <a:srgbClr val="64748B"/>
                </a:solidFill>
                <a:latin typeface="Segoe UI"/>
              </a:defRPr>
            </a:pPr>
            <a:r>
              <a:t>Grasp stability hinges on detecting shear friction breakdown before catastrophic drop occurs.</a:t>
            </a:r>
          </a:p>
        </p:txBody>
      </p:sp>
      <p:sp>
        <p:nvSpPr>
          <p:cNvPr id="13" name="Rounded Rectangle 12"/>
          <p:cNvSpPr/>
          <p:nvPr/>
        </p:nvSpPr>
        <p:spPr>
          <a:xfrm>
            <a:off x="731520" y="1828800"/>
            <a:ext cx="3337560" cy="301752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2011680"/>
            <a:ext cx="2880360" cy="2651760"/>
          </a:xfrm>
          <a:prstGeom prst="rect">
            <a:avLst/>
          </a:prstGeom>
          <a:noFill/>
        </p:spPr>
        <p:txBody>
          <a:bodyPr wrap="square">
            <a:spAutoFit/>
          </a:bodyPr>
          <a:lstStyle/>
          <a:p>
            <a:pPr>
              <a:defRPr sz="2000" b="1">
                <a:solidFill>
                  <a:srgbClr val="EF4444"/>
                </a:solidFill>
                <a:latin typeface="Georgia"/>
              </a:defRPr>
            </a:pPr>
            <a:r>
              <a:t>Dropped Object</a:t>
            </a:r>
          </a:p>
          <a:p>
            <a:pPr>
              <a:spcBef>
                <a:spcPts val="400"/>
              </a:spcBef>
              <a:defRPr sz="1200" b="1">
                <a:solidFill>
                  <a:srgbClr val="64748B"/>
                </a:solidFill>
                <a:latin typeface="Segoe UI"/>
              </a:defRPr>
            </a:pPr>
            <a:r>
              <a:t>Insufficient Normal Force</a:t>
            </a:r>
          </a:p>
          <a:p>
            <a:pPr>
              <a:spcBef>
                <a:spcPts val="1400"/>
              </a:spcBef>
              <a:defRPr sz="1400">
                <a:solidFill>
                  <a:srgbClr val="0F172A"/>
                </a:solidFill>
                <a:latin typeface="Segoe UI"/>
              </a:defRPr>
            </a:pPr>
            <a:r>
              <a:t>Object slides out completely when friction fails, causing task termination and fragile object damage.</a:t>
            </a:r>
          </a:p>
        </p:txBody>
      </p:sp>
      <p:sp>
        <p:nvSpPr>
          <p:cNvPr id="15" name="Rounded Rectangle 14"/>
          <p:cNvSpPr/>
          <p:nvPr/>
        </p:nvSpPr>
        <p:spPr>
          <a:xfrm>
            <a:off x="4416552" y="1828800"/>
            <a:ext cx="3337560" cy="301752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011680"/>
            <a:ext cx="2880360" cy="2651760"/>
          </a:xfrm>
          <a:prstGeom prst="rect">
            <a:avLst/>
          </a:prstGeom>
          <a:noFill/>
        </p:spPr>
        <p:txBody>
          <a:bodyPr wrap="square">
            <a:spAutoFit/>
          </a:bodyPr>
          <a:lstStyle/>
          <a:p>
            <a:pPr>
              <a:defRPr sz="2000" b="1">
                <a:solidFill>
                  <a:srgbClr val="F59E0B"/>
                </a:solidFill>
                <a:latin typeface="Georgia"/>
              </a:defRPr>
            </a:pPr>
            <a:r>
              <a:t>Crushed Object</a:t>
            </a:r>
          </a:p>
          <a:p>
            <a:pPr>
              <a:spcBef>
                <a:spcPts val="400"/>
              </a:spcBef>
              <a:defRPr sz="1200" b="1">
                <a:solidFill>
                  <a:srgbClr val="64748B"/>
                </a:solidFill>
                <a:latin typeface="Segoe UI"/>
              </a:defRPr>
            </a:pPr>
            <a:r>
              <a:t>Excessive Clamping Force</a:t>
            </a:r>
          </a:p>
          <a:p>
            <a:pPr>
              <a:spcBef>
                <a:spcPts val="1400"/>
              </a:spcBef>
              <a:defRPr sz="1400">
                <a:solidFill>
                  <a:srgbClr val="0F172A"/>
                </a:solidFill>
                <a:latin typeface="Segoe UI"/>
              </a:defRPr>
            </a:pPr>
            <a:r>
              <a:t>Over-compensating without tactile feedback crushes compliant packages like cups, berries, or thin cans.</a:t>
            </a:r>
          </a:p>
        </p:txBody>
      </p:sp>
      <p:sp>
        <p:nvSpPr>
          <p:cNvPr id="17" name="Rounded Rectangle 16"/>
          <p:cNvSpPr/>
          <p:nvPr/>
        </p:nvSpPr>
        <p:spPr>
          <a:xfrm>
            <a:off x="8101584" y="1828800"/>
            <a:ext cx="3337560" cy="3017520"/>
          </a:xfrm>
          <a:prstGeom prst="roundRect">
            <a:avLst/>
          </a:prstGeom>
          <a:solidFill>
            <a:srgbClr val="FFFFFF"/>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0184" y="2011680"/>
            <a:ext cx="2880360" cy="2651760"/>
          </a:xfrm>
          <a:prstGeom prst="rect">
            <a:avLst/>
          </a:prstGeom>
          <a:noFill/>
        </p:spPr>
        <p:txBody>
          <a:bodyPr wrap="square">
            <a:spAutoFit/>
          </a:bodyPr>
          <a:lstStyle/>
          <a:p>
            <a:pPr>
              <a:defRPr sz="2000" b="1">
                <a:solidFill>
                  <a:srgbClr val="06B6D4"/>
                </a:solidFill>
                <a:latin typeface="Georgia"/>
              </a:defRPr>
            </a:pPr>
            <a:r>
              <a:t>Unstable Grasp</a:t>
            </a:r>
          </a:p>
          <a:p>
            <a:pPr>
              <a:spcBef>
                <a:spcPts val="400"/>
              </a:spcBef>
              <a:defRPr sz="1200" b="1">
                <a:solidFill>
                  <a:srgbClr val="64748B"/>
                </a:solidFill>
                <a:latin typeface="Segoe UI"/>
              </a:defRPr>
            </a:pPr>
            <a:r>
              <a:t>External Perturbation</a:t>
            </a:r>
          </a:p>
          <a:p>
            <a:pPr>
              <a:spcBef>
                <a:spcPts val="1400"/>
              </a:spcBef>
              <a:defRPr sz="1400">
                <a:solidFill>
                  <a:srgbClr val="0F172A"/>
                </a:solidFill>
                <a:latin typeface="Segoe UI"/>
              </a:defRPr>
            </a:pPr>
            <a:r>
              <a:t>Dynamic robot arm motion or contact forces induce unmodeled rotational shear and slip.</a:t>
            </a:r>
          </a:p>
        </p:txBody>
      </p:sp>
      <p:sp>
        <p:nvSpPr>
          <p:cNvPr id="19" name="Rounded Rectangle 18"/>
          <p:cNvSpPr/>
          <p:nvPr/>
        </p:nvSpPr>
        <p:spPr>
          <a:xfrm>
            <a:off x="731520" y="5120640"/>
            <a:ext cx="10698480" cy="1097280"/>
          </a:xfrm>
          <a:prstGeom prst="roundRect">
            <a:avLst/>
          </a:prstGeom>
          <a:solidFill>
            <a:srgbClr val="FFFFFF"/>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257800"/>
            <a:ext cx="10149840" cy="822960"/>
          </a:xfrm>
          <a:prstGeom prst="rect">
            <a:avLst/>
          </a:prstGeom>
          <a:noFill/>
        </p:spPr>
        <p:txBody>
          <a:bodyPr wrap="square">
            <a:spAutoFit/>
          </a:bodyPr>
          <a:lstStyle/>
          <a:p>
            <a:pPr>
              <a:defRPr sz="1100" b="1">
                <a:solidFill>
                  <a:srgbClr val="06B6D4"/>
                </a:solidFill>
                <a:latin typeface="Segoe UI"/>
              </a:defRPr>
            </a:pPr>
            <a:r>
              <a:t>The Core Research Question:</a:t>
            </a:r>
          </a:p>
          <a:p>
            <a:pPr>
              <a:spcBef>
                <a:spcPts val="200"/>
              </a:spcBef>
              <a:defRPr sz="1700" b="1">
                <a:solidFill>
                  <a:srgbClr val="0F172A"/>
                </a:solidFill>
                <a:latin typeface="Georgia"/>
              </a:defRPr>
            </a:pPr>
            <a:r>
              <a:t>Can low-cost 12-channel IMUs embedded in silicone fingertips sense microscopic vibrations to predict slip?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Framing Slip Detection as a Classical Tabular ML Pipeline</a:t>
            </a:r>
          </a:p>
          <a:p>
            <a:pPr>
              <a:defRPr sz="1250">
                <a:solidFill>
                  <a:srgbClr val="64748B"/>
                </a:solidFill>
                <a:latin typeface="Segoe UI"/>
              </a:defRPr>
            </a:pPr>
            <a:r>
              <a:t>Translating high-frequency continuous kinematics into interpretable statistical features.</a:t>
            </a:r>
          </a:p>
        </p:txBody>
      </p:sp>
      <p:sp>
        <p:nvSpPr>
          <p:cNvPr id="13" name="Rounded Rectangle 12"/>
          <p:cNvSpPr/>
          <p:nvPr/>
        </p:nvSpPr>
        <p:spPr>
          <a:xfrm>
            <a:off x="731520" y="1828800"/>
            <a:ext cx="4114800" cy="438912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011680"/>
            <a:ext cx="3566160" cy="3931920"/>
          </a:xfrm>
          <a:prstGeom prst="rect">
            <a:avLst/>
          </a:prstGeom>
          <a:noFill/>
        </p:spPr>
        <p:txBody>
          <a:bodyPr wrap="square">
            <a:spAutoFit/>
          </a:bodyPr>
          <a:lstStyle/>
          <a:p>
            <a:pPr>
              <a:defRPr sz="1100" b="1">
                <a:solidFill>
                  <a:srgbClr val="EF4444"/>
                </a:solidFill>
                <a:latin typeface="Segoe UI"/>
              </a:defRPr>
            </a:pPr>
            <a:r>
              <a:t>THE PROBLEM</a:t>
            </a:r>
          </a:p>
          <a:p>
            <a:pPr>
              <a:spcBef>
                <a:spcPts val="600"/>
              </a:spcBef>
              <a:defRPr sz="1900" b="1">
                <a:solidFill>
                  <a:srgbClr val="0F172A"/>
                </a:solidFill>
                <a:latin typeface="Georgia"/>
              </a:defRPr>
            </a:pPr>
            <a:r>
              <a:t>High-Frequency Continuous Signals vs Tabular Classifiers</a:t>
            </a:r>
          </a:p>
          <a:p>
            <a:pPr>
              <a:spcBef>
                <a:spcPts val="1400"/>
              </a:spcBef>
              <a:defRPr sz="1400">
                <a:solidFill>
                  <a:srgbClr val="64748B"/>
                </a:solidFill>
                <a:latin typeface="Segoe UI"/>
              </a:defRPr>
            </a:pPr>
            <a:r>
              <a:t>Tactile IMUs generate 12 continuous channels at 122 Hz, totaling 721,392 timesteps. Can lightweight statistical features (mean, RMS, jerk) replace deep neural networks, enabling real-time closed-loop edge execution with full physical interpretability?</a:t>
            </a:r>
          </a:p>
        </p:txBody>
      </p:sp>
      <p:sp>
        <p:nvSpPr>
          <p:cNvPr id="15" name="Rounded Rectangle 14"/>
          <p:cNvSpPr/>
          <p:nvPr/>
        </p:nvSpPr>
        <p:spPr>
          <a:xfrm>
            <a:off x="5120640" y="1828800"/>
            <a:ext cx="6309360"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1901952"/>
            <a:ext cx="5943600" cy="603504"/>
          </a:xfrm>
          <a:prstGeom prst="rect">
            <a:avLst/>
          </a:prstGeom>
          <a:noFill/>
        </p:spPr>
        <p:txBody>
          <a:bodyPr wrap="square">
            <a:spAutoFit/>
          </a:bodyPr>
          <a:lstStyle/>
          <a:p>
            <a:pPr>
              <a:defRPr sz="1300" b="1">
                <a:solidFill>
                  <a:srgbClr val="06B6D4"/>
                </a:solidFill>
                <a:latin typeface="Segoe UI"/>
              </a:defRPr>
            </a:pPr>
            <a:r>
              <a:t>1. Data Auditing &amp; Preprocessing</a:t>
            </a:r>
          </a:p>
          <a:p>
            <a:pPr>
              <a:defRPr sz="1150">
                <a:solidFill>
                  <a:srgbClr val="0F172A"/>
                </a:solidFill>
                <a:latin typeface="Segoe UI"/>
              </a:defRPr>
            </a:pPr>
            <a:r>
              <a:t>Clean 195 raw trials, isolate dead sensors, and mask non-contact air samples.</a:t>
            </a:r>
          </a:p>
        </p:txBody>
      </p:sp>
      <p:sp>
        <p:nvSpPr>
          <p:cNvPr id="17" name="Rounded Rectangle 16"/>
          <p:cNvSpPr/>
          <p:nvPr/>
        </p:nvSpPr>
        <p:spPr>
          <a:xfrm>
            <a:off x="5120640" y="2670048"/>
            <a:ext cx="6309360"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2743200"/>
            <a:ext cx="5943600" cy="603504"/>
          </a:xfrm>
          <a:prstGeom prst="rect">
            <a:avLst/>
          </a:prstGeom>
          <a:noFill/>
        </p:spPr>
        <p:txBody>
          <a:bodyPr wrap="square">
            <a:spAutoFit/>
          </a:bodyPr>
          <a:lstStyle/>
          <a:p>
            <a:pPr>
              <a:defRPr sz="1300" b="1">
                <a:solidFill>
                  <a:srgbClr val="06B6D4"/>
                </a:solidFill>
                <a:latin typeface="Segoe UI"/>
              </a:defRPr>
            </a:pPr>
            <a:r>
              <a:t>2. 250 ms Windowing &amp; Feature Extraction</a:t>
            </a:r>
          </a:p>
          <a:p>
            <a:pPr>
              <a:defRPr sz="1150">
                <a:solidFill>
                  <a:srgbClr val="0F172A"/>
                </a:solidFill>
                <a:latin typeface="Segoe UI"/>
              </a:defRPr>
            </a:pPr>
            <a:r>
              <a:t>Extract 84 statistical and temporal features across 40,022 windows with 50% stride.</a:t>
            </a:r>
          </a:p>
        </p:txBody>
      </p:sp>
      <p:sp>
        <p:nvSpPr>
          <p:cNvPr id="19" name="Rounded Rectangle 18"/>
          <p:cNvSpPr/>
          <p:nvPr/>
        </p:nvSpPr>
        <p:spPr>
          <a:xfrm>
            <a:off x="5120640" y="3511296"/>
            <a:ext cx="6309360"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0" y="3584448"/>
            <a:ext cx="5943600" cy="603504"/>
          </a:xfrm>
          <a:prstGeom prst="rect">
            <a:avLst/>
          </a:prstGeom>
          <a:noFill/>
        </p:spPr>
        <p:txBody>
          <a:bodyPr wrap="square">
            <a:spAutoFit/>
          </a:bodyPr>
          <a:lstStyle/>
          <a:p>
            <a:pPr>
              <a:defRPr sz="1300" b="1">
                <a:solidFill>
                  <a:srgbClr val="06B6D4"/>
                </a:solidFill>
                <a:latin typeface="Segoe UI"/>
              </a:defRPr>
            </a:pPr>
            <a:r>
              <a:t>3. Five-Model Classical Benchmark</a:t>
            </a:r>
          </a:p>
          <a:p>
            <a:pPr>
              <a:defRPr sz="1150">
                <a:solidFill>
                  <a:srgbClr val="0F172A"/>
                </a:solidFill>
                <a:latin typeface="Segoe UI"/>
              </a:defRPr>
            </a:pPr>
            <a:r>
              <a:t>Train and tune Logistic Regression, KNN, Random Forest, LightGBM, and CatBoost.</a:t>
            </a:r>
          </a:p>
        </p:txBody>
      </p:sp>
      <p:sp>
        <p:nvSpPr>
          <p:cNvPr id="21" name="Rounded Rectangle 20"/>
          <p:cNvSpPr/>
          <p:nvPr/>
        </p:nvSpPr>
        <p:spPr>
          <a:xfrm>
            <a:off x="5120640" y="4352544"/>
            <a:ext cx="6309360"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4425696"/>
            <a:ext cx="5943600" cy="603504"/>
          </a:xfrm>
          <a:prstGeom prst="rect">
            <a:avLst/>
          </a:prstGeom>
          <a:noFill/>
        </p:spPr>
        <p:txBody>
          <a:bodyPr wrap="square">
            <a:spAutoFit/>
          </a:bodyPr>
          <a:lstStyle/>
          <a:p>
            <a:pPr>
              <a:defRPr sz="1300" b="1">
                <a:solidFill>
                  <a:srgbClr val="06B6D4"/>
                </a:solidFill>
                <a:latin typeface="Segoe UI"/>
              </a:defRPr>
            </a:pPr>
            <a:r>
              <a:t>4. Sensor-Only vs Object-Aware Comparison</a:t>
            </a:r>
          </a:p>
          <a:p>
            <a:pPr>
              <a:defRPr sz="1150">
                <a:solidFill>
                  <a:srgbClr val="0F172A"/>
                </a:solidFill>
                <a:latin typeface="Segoe UI"/>
              </a:defRPr>
            </a:pPr>
            <a:r>
              <a:t>Quantify the metric lift and feature reliance when object identity is supplied.</a:t>
            </a:r>
          </a:p>
        </p:txBody>
      </p:sp>
      <p:sp>
        <p:nvSpPr>
          <p:cNvPr id="23" name="Rounded Rectangle 22"/>
          <p:cNvSpPr/>
          <p:nvPr/>
        </p:nvSpPr>
        <p:spPr>
          <a:xfrm>
            <a:off x="5120640" y="5193792"/>
            <a:ext cx="6309360" cy="74980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0" y="5266944"/>
            <a:ext cx="5943600" cy="603504"/>
          </a:xfrm>
          <a:prstGeom prst="rect">
            <a:avLst/>
          </a:prstGeom>
          <a:noFill/>
        </p:spPr>
        <p:txBody>
          <a:bodyPr wrap="square">
            <a:spAutoFit/>
          </a:bodyPr>
          <a:lstStyle/>
          <a:p>
            <a:pPr>
              <a:defRPr sz="1300" b="1">
                <a:solidFill>
                  <a:srgbClr val="06B6D4"/>
                </a:solidFill>
                <a:latin typeface="Segoe UI"/>
              </a:defRPr>
            </a:pPr>
            <a:r>
              <a:t>5. Diagnostic &amp; Generalization Analysis</a:t>
            </a:r>
          </a:p>
          <a:p>
            <a:pPr>
              <a:defRPr sz="1150">
                <a:solidFill>
                  <a:srgbClr val="0F172A"/>
                </a:solidFill>
                <a:latin typeface="Segoe UI"/>
              </a:defRPr>
            </a:pPr>
            <a:r>
              <a:t>Evaluate noise stress, threshold sensitivity, and the critical Pringles imbalance dilemma.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Literature Benchmark: Deep Learning Baseline vs Classical Pipeline</a:t>
            </a:r>
          </a:p>
          <a:p>
            <a:pPr>
              <a:defRPr sz="1250">
                <a:solidFill>
                  <a:srgbClr val="64748B"/>
                </a:solidFill>
                <a:latin typeface="Segoe UI"/>
              </a:defRPr>
            </a:pPr>
            <a:r>
              <a:t>Contrasting Cravetz et al. (Frontiers in Robotics and AI, 2025) with our transparent tabular approach.</a:t>
            </a:r>
          </a:p>
        </p:txBody>
      </p:sp>
      <p:graphicFrame>
        <p:nvGraphicFramePr>
          <p:cNvPr id="13" name="Table 12"/>
          <p:cNvGraphicFramePr>
            <a:graphicFrameLocks noGrp="1"/>
          </p:cNvGraphicFramePr>
          <p:nvPr/>
        </p:nvGraphicFramePr>
        <p:xfrm>
          <a:off x="731520" y="1828800"/>
          <a:ext cx="10698480" cy="3291840"/>
        </p:xfrm>
        <a:graphic>
          <a:graphicData uri="http://schemas.openxmlformats.org/drawingml/2006/table">
            <a:tbl>
              <a:tblPr firstRow="1" bandRow="1">
                <a:tableStyleId>{5C22544A-7EE6-4342-B048-85BDC9FD1C3A}</a:tableStyleId>
              </a:tblPr>
              <a:tblGrid>
                <a:gridCol w="2468880"/>
                <a:gridCol w="4114800"/>
                <a:gridCol w="4114800"/>
              </a:tblGrid>
              <a:tr h="548640">
                <a:tc>
                  <a:txBody>
                    <a:bodyPr/>
                    <a:lstStyle/>
                    <a:p>
                      <a:pPr>
                        <a:defRPr sz="1300" b="1">
                          <a:solidFill>
                            <a:srgbClr val="FFFFFF"/>
                          </a:solidFill>
                          <a:latin typeface="Segoe UI"/>
                        </a:defRPr>
                      </a:pPr>
                      <a:r>
                        <a:t>Evaluation Dimension</a:t>
                      </a:r>
                    </a:p>
                  </a:txBody>
                  <a:tcPr>
                    <a:solidFill>
                      <a:srgbClr val="131E3C"/>
                    </a:solidFill>
                  </a:tcPr>
                </a:tc>
                <a:tc>
                  <a:txBody>
                    <a:bodyPr/>
                    <a:lstStyle/>
                    <a:p>
                      <a:pPr>
                        <a:defRPr sz="1300" b="1">
                          <a:solidFill>
                            <a:srgbClr val="FFFFFF"/>
                          </a:solidFill>
                          <a:latin typeface="Segoe UI"/>
                        </a:defRPr>
                      </a:pPr>
                      <a:r>
                        <a:t>Cravetz et al. (2025) Baseline</a:t>
                      </a:r>
                    </a:p>
                  </a:txBody>
                  <a:tcPr>
                    <a:solidFill>
                      <a:srgbClr val="131E3C"/>
                    </a:solidFill>
                  </a:tcPr>
                </a:tc>
                <a:tc>
                  <a:txBody>
                    <a:bodyPr/>
                    <a:lstStyle/>
                    <a:p>
                      <a:pPr>
                        <a:defRPr sz="1300" b="1">
                          <a:solidFill>
                            <a:srgbClr val="FFFFFF"/>
                          </a:solidFill>
                          <a:latin typeface="Segoe UI"/>
                        </a:defRPr>
                      </a:pPr>
                      <a:r>
                        <a:t>Our Classical Pipeline</a:t>
                      </a:r>
                    </a:p>
                  </a:txBody>
                  <a:tcPr>
                    <a:solidFill>
                      <a:srgbClr val="131E3C"/>
                    </a:solidFill>
                  </a:tcPr>
                </a:tc>
              </a:tr>
              <a:tr h="548640">
                <a:tc>
                  <a:txBody>
                    <a:bodyPr/>
                    <a:lstStyle/>
                    <a:p>
                      <a:pPr>
                        <a:defRPr sz="1200" b="1">
                          <a:solidFill>
                            <a:srgbClr val="06B6D4"/>
                          </a:solidFill>
                          <a:latin typeface="Segoe UI"/>
                        </a:defRPr>
                      </a:pPr>
                      <a:r>
                        <a:t>Architecture</a:t>
                      </a:r>
                    </a:p>
                  </a:txBody>
                  <a:tcPr>
                    <a:solidFill>
                      <a:srgbClr val="FFFFFF"/>
                    </a:solidFill>
                  </a:tcPr>
                </a:tc>
                <a:tc>
                  <a:txBody>
                    <a:bodyPr/>
                    <a:lstStyle/>
                    <a:p>
                      <a:pPr>
                        <a:defRPr sz="1200" b="0">
                          <a:solidFill>
                            <a:srgbClr val="0F172A"/>
                          </a:solidFill>
                          <a:latin typeface="Segoe UI"/>
                        </a:defRPr>
                      </a:pPr>
                      <a:r>
                        <a:t>1D Convolutional Neural Network (CNN)</a:t>
                      </a:r>
                    </a:p>
                  </a:txBody>
                  <a:tcPr>
                    <a:solidFill>
                      <a:srgbClr val="FFFFFF"/>
                    </a:solidFill>
                  </a:tcPr>
                </a:tc>
                <a:tc>
                  <a:txBody>
                    <a:bodyPr/>
                    <a:lstStyle/>
                    <a:p>
                      <a:pPr>
                        <a:defRPr sz="1200" b="0">
                          <a:solidFill>
                            <a:srgbClr val="0F172A"/>
                          </a:solidFill>
                          <a:latin typeface="Segoe UI"/>
                        </a:defRPr>
                      </a:pPr>
                      <a:r>
                        <a:t>5 Classical Models (LogReg, KNN, RF, LightGBM, CatBoost)</a:t>
                      </a:r>
                    </a:p>
                  </a:txBody>
                  <a:tcPr>
                    <a:solidFill>
                      <a:srgbClr val="FFFFFF"/>
                    </a:solidFill>
                  </a:tcPr>
                </a:tc>
              </a:tr>
              <a:tr h="548640">
                <a:tc>
                  <a:txBody>
                    <a:bodyPr/>
                    <a:lstStyle/>
                    <a:p>
                      <a:pPr>
                        <a:defRPr sz="1200" b="1">
                          <a:solidFill>
                            <a:srgbClr val="06B6D4"/>
                          </a:solidFill>
                          <a:latin typeface="Segoe UI"/>
                        </a:defRPr>
                      </a:pPr>
                      <a:r>
                        <a:t>Input Representation</a:t>
                      </a:r>
                    </a:p>
                  </a:txBody>
                  <a:tcPr>
                    <a:solidFill>
                      <a:srgbClr val="F1F5F9"/>
                    </a:solidFill>
                  </a:tcPr>
                </a:tc>
                <a:tc>
                  <a:txBody>
                    <a:bodyPr/>
                    <a:lstStyle/>
                    <a:p>
                      <a:pPr>
                        <a:defRPr sz="1200" b="0">
                          <a:solidFill>
                            <a:srgbClr val="0F172A"/>
                          </a:solidFill>
                          <a:latin typeface="Segoe UI"/>
                        </a:defRPr>
                      </a:pPr>
                      <a:r>
                        <a:t>Raw 12 × 30 IMU signal grids (0.75 s window)</a:t>
                      </a:r>
                    </a:p>
                  </a:txBody>
                  <a:tcPr>
                    <a:solidFill>
                      <a:srgbClr val="F1F5F9"/>
                    </a:solidFill>
                  </a:tcPr>
                </a:tc>
                <a:tc>
                  <a:txBody>
                    <a:bodyPr/>
                    <a:lstStyle/>
                    <a:p>
                      <a:pPr>
                        <a:defRPr sz="1200" b="0">
                          <a:solidFill>
                            <a:srgbClr val="0F172A"/>
                          </a:solidFill>
                          <a:latin typeface="Segoe UI"/>
                        </a:defRPr>
                      </a:pPr>
                      <a:r>
                        <a:t>84 Hand-crafted statistical features (250 ms window)</a:t>
                      </a:r>
                    </a:p>
                  </a:txBody>
                  <a:tcPr>
                    <a:solidFill>
                      <a:srgbClr val="F1F5F9"/>
                    </a:solidFill>
                  </a:tcPr>
                </a:tc>
              </a:tr>
              <a:tr h="548640">
                <a:tc>
                  <a:txBody>
                    <a:bodyPr/>
                    <a:lstStyle/>
                    <a:p>
                      <a:pPr>
                        <a:defRPr sz="1200" b="1">
                          <a:solidFill>
                            <a:srgbClr val="06B6D4"/>
                          </a:solidFill>
                          <a:latin typeface="Segoe UI"/>
                        </a:defRPr>
                      </a:pPr>
                      <a:r>
                        <a:t>Reported Slip F1</a:t>
                      </a:r>
                    </a:p>
                  </a:txBody>
                  <a:tcPr>
                    <a:solidFill>
                      <a:srgbClr val="FFFFFF"/>
                    </a:solidFill>
                  </a:tcPr>
                </a:tc>
                <a:tc>
                  <a:txBody>
                    <a:bodyPr/>
                    <a:lstStyle/>
                    <a:p>
                      <a:pPr>
                        <a:defRPr sz="1200" b="0">
                          <a:solidFill>
                            <a:srgbClr val="0F172A"/>
                          </a:solidFill>
                          <a:latin typeface="Segoe UI"/>
                        </a:defRPr>
                      </a:pPr>
                      <a:r>
                        <a:t>F1 ≈ 0.70 (balanced) | Precision 93.1% at Recall 25.2%</a:t>
                      </a:r>
                    </a:p>
                  </a:txBody>
                  <a:tcPr>
                    <a:solidFill>
                      <a:srgbClr val="FFFFFF"/>
                    </a:solidFill>
                  </a:tcPr>
                </a:tc>
                <a:tc>
                  <a:txBody>
                    <a:bodyPr/>
                    <a:lstStyle/>
                    <a:p>
                      <a:pPr>
                        <a:defRPr sz="1200" b="0">
                          <a:solidFill>
                            <a:srgbClr val="0F172A"/>
                          </a:solidFill>
                          <a:latin typeface="Segoe UI"/>
                        </a:defRPr>
                      </a:pPr>
                      <a:r>
                        <a:t>Approach A (IMU): 0.841 F1 | Approach B (Object): 0.959 F1</a:t>
                      </a:r>
                    </a:p>
                  </a:txBody>
                  <a:tcPr>
                    <a:solidFill>
                      <a:srgbClr val="FFFFFF"/>
                    </a:solidFill>
                  </a:tcPr>
                </a:tc>
              </a:tr>
              <a:tr h="548640">
                <a:tc>
                  <a:txBody>
                    <a:bodyPr/>
                    <a:lstStyle/>
                    <a:p>
                      <a:pPr>
                        <a:defRPr sz="1200" b="1">
                          <a:solidFill>
                            <a:srgbClr val="06B6D4"/>
                          </a:solidFill>
                          <a:latin typeface="Segoe UI"/>
                        </a:defRPr>
                      </a:pPr>
                      <a:r>
                        <a:t>Known Bottlenecks</a:t>
                      </a:r>
                    </a:p>
                  </a:txBody>
                  <a:tcPr>
                    <a:solidFill>
                      <a:srgbClr val="F1F5F9"/>
                    </a:solidFill>
                  </a:tcPr>
                </a:tc>
                <a:tc>
                  <a:txBody>
                    <a:bodyPr/>
                    <a:lstStyle/>
                    <a:p>
                      <a:pPr>
                        <a:defRPr sz="1200" b="0">
                          <a:solidFill>
                            <a:srgbClr val="0F172A"/>
                          </a:solidFill>
                          <a:latin typeface="Segoe UI"/>
                        </a:defRPr>
                      </a:pPr>
                      <a:r>
                        <a:t>Degrades on unseen objects; poor Pringles precision</a:t>
                      </a:r>
                    </a:p>
                  </a:txBody>
                  <a:tcPr>
                    <a:solidFill>
                      <a:srgbClr val="F1F5F9"/>
                    </a:solidFill>
                  </a:tcPr>
                </a:tc>
                <a:tc>
                  <a:txBody>
                    <a:bodyPr/>
                    <a:lstStyle/>
                    <a:p>
                      <a:pPr>
                        <a:defRPr sz="1200" b="0">
                          <a:solidFill>
                            <a:srgbClr val="0F172A"/>
                          </a:solidFill>
                          <a:latin typeface="Segoe UI"/>
                        </a:defRPr>
                      </a:pPr>
                      <a:r>
                        <a:t>Approach B collapses on unseen objects (memorization)</a:t>
                      </a:r>
                    </a:p>
                  </a:txBody>
                  <a:tcPr>
                    <a:solidFill>
                      <a:srgbClr val="F1F5F9"/>
                    </a:solidFill>
                  </a:tcPr>
                </a:tc>
              </a:tr>
              <a:tr h="548640">
                <a:tc>
                  <a:txBody>
                    <a:bodyPr/>
                    <a:lstStyle/>
                    <a:p>
                      <a:pPr>
                        <a:defRPr sz="1200" b="1">
                          <a:solidFill>
                            <a:srgbClr val="06B6D4"/>
                          </a:solidFill>
                          <a:latin typeface="Segoe UI"/>
                        </a:defRPr>
                      </a:pPr>
                      <a:r>
                        <a:t>Interpretability</a:t>
                      </a:r>
                    </a:p>
                  </a:txBody>
                  <a:tcPr>
                    <a:solidFill>
                      <a:srgbClr val="FFFFFF"/>
                    </a:solidFill>
                  </a:tcPr>
                </a:tc>
                <a:tc>
                  <a:txBody>
                    <a:bodyPr/>
                    <a:lstStyle/>
                    <a:p>
                      <a:pPr>
                        <a:defRPr sz="1200" b="0">
                          <a:solidFill>
                            <a:srgbClr val="0F172A"/>
                          </a:solidFill>
                          <a:latin typeface="Segoe UI"/>
                        </a:defRPr>
                      </a:pPr>
                      <a:r>
                        <a:t>Opaque neural feature representations</a:t>
                      </a:r>
                    </a:p>
                  </a:txBody>
                  <a:tcPr>
                    <a:solidFill>
                      <a:srgbClr val="FFFFFF"/>
                    </a:solidFill>
                  </a:tcPr>
                </a:tc>
                <a:tc>
                  <a:txBody>
                    <a:bodyPr/>
                    <a:lstStyle/>
                    <a:p>
                      <a:pPr>
                        <a:defRPr sz="1200" b="0">
                          <a:solidFill>
                            <a:srgbClr val="0F172A"/>
                          </a:solidFill>
                          <a:latin typeface="Segoe UI"/>
                        </a:defRPr>
                      </a:pPr>
                      <a:r>
                        <a:t>Direct feature importances (Mean, RMS, Jerk $da/dt$)</a:t>
                      </a:r>
                    </a:p>
                  </a:txBody>
                  <a:tcPr>
                    <a:solidFill>
                      <a:srgbClr val="FFFFFF"/>
                    </a:solidFill>
                  </a:tcPr>
                </a:tc>
              </a:tr>
            </a:tbl>
          </a:graphicData>
        </a:graphic>
      </p:graphicFrame>
      <p:sp>
        <p:nvSpPr>
          <p:cNvPr id="14" name="TextBox 13"/>
          <p:cNvSpPr txBox="1"/>
          <p:nvPr/>
        </p:nvSpPr>
        <p:spPr>
          <a:xfrm>
            <a:off x="731520" y="5303520"/>
            <a:ext cx="10698480" cy="914400"/>
          </a:xfrm>
          <a:prstGeom prst="rect">
            <a:avLst/>
          </a:prstGeom>
          <a:noFill/>
        </p:spPr>
        <p:txBody>
          <a:bodyPr wrap="square">
            <a:spAutoFit/>
          </a:bodyPr>
          <a:lstStyle/>
          <a:p>
            <a:pPr>
              <a:defRPr sz="1100">
                <a:solidFill>
                  <a:srgbClr val="64748B"/>
                </a:solidFill>
                <a:latin typeface="Segoe UI"/>
              </a:defRPr>
            </a:pPr>
            <a:r>
              <a:t>* Rigorous Scientific Note: Window lengths, feature engineering, and cross-validation protocols differ; metrics are qualitatively compared rather than claimed as direct superiority. Background literature: Romeo &amp; Zollo (2020), Methods and Devices for Slip Detection in Tactile 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SLID-CH Dataset: 721,392 Samples Across Five Diverse Everyday Objects</a:t>
            </a:r>
          </a:p>
          <a:p>
            <a:pPr>
              <a:defRPr sz="1250">
                <a:solidFill>
                  <a:srgbClr val="64748B"/>
                </a:solidFill>
                <a:latin typeface="Segoe UI"/>
              </a:defRPr>
            </a:pPr>
            <a:r>
              <a:t>Dual compliant fingertip IMUs captured continuous grasp telemetry at 122 Hz.</a:t>
            </a:r>
          </a:p>
        </p:txBody>
      </p:sp>
      <p:sp>
        <p:nvSpPr>
          <p:cNvPr id="13" name="Rounded Rectangle 12"/>
          <p:cNvSpPr/>
          <p:nvPr/>
        </p:nvSpPr>
        <p:spPr>
          <a:xfrm>
            <a:off x="731520" y="1737360"/>
            <a:ext cx="2103120" cy="1645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1874520"/>
            <a:ext cx="1828800" cy="1371600"/>
          </a:xfrm>
          <a:prstGeom prst="rect">
            <a:avLst/>
          </a:prstGeom>
          <a:noFill/>
        </p:spPr>
        <p:txBody>
          <a:bodyPr wrap="square">
            <a:spAutoFit/>
          </a:bodyPr>
          <a:lstStyle/>
          <a:p>
            <a:pPr>
              <a:defRPr sz="2800" b="1">
                <a:solidFill>
                  <a:srgbClr val="06B6D4"/>
                </a:solidFill>
                <a:latin typeface="Segoe UI"/>
              </a:defRPr>
            </a:pPr>
            <a:r>
              <a:t>195</a:t>
            </a:r>
          </a:p>
          <a:p>
            <a:pPr>
              <a:defRPr sz="1100">
                <a:solidFill>
                  <a:srgbClr val="64748B"/>
                </a:solidFill>
                <a:latin typeface="Segoe UI"/>
              </a:defRPr>
            </a:pPr>
            <a:r>
              <a:t>Total Grasp Trials</a:t>
            </a:r>
          </a:p>
        </p:txBody>
      </p:sp>
      <p:sp>
        <p:nvSpPr>
          <p:cNvPr id="15" name="Rounded Rectangle 14"/>
          <p:cNvSpPr/>
          <p:nvPr/>
        </p:nvSpPr>
        <p:spPr>
          <a:xfrm>
            <a:off x="3063240" y="1737360"/>
            <a:ext cx="2103120" cy="1645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0" y="1874520"/>
            <a:ext cx="1828800" cy="1371600"/>
          </a:xfrm>
          <a:prstGeom prst="rect">
            <a:avLst/>
          </a:prstGeom>
          <a:noFill/>
        </p:spPr>
        <p:txBody>
          <a:bodyPr wrap="square">
            <a:spAutoFit/>
          </a:bodyPr>
          <a:lstStyle/>
          <a:p>
            <a:pPr>
              <a:defRPr sz="2800" b="1">
                <a:solidFill>
                  <a:srgbClr val="0F172A"/>
                </a:solidFill>
                <a:latin typeface="Segoe UI"/>
              </a:defRPr>
            </a:pPr>
            <a:r>
              <a:t>721,392</a:t>
            </a:r>
          </a:p>
          <a:p>
            <a:pPr>
              <a:defRPr sz="1100">
                <a:solidFill>
                  <a:srgbClr val="64748B"/>
                </a:solidFill>
                <a:latin typeface="Segoe UI"/>
              </a:defRPr>
            </a:pPr>
            <a:r>
              <a:t>Raw Timesteps (~98 min)</a:t>
            </a:r>
          </a:p>
        </p:txBody>
      </p:sp>
      <p:sp>
        <p:nvSpPr>
          <p:cNvPr id="17" name="Rounded Rectangle 16"/>
          <p:cNvSpPr/>
          <p:nvPr/>
        </p:nvSpPr>
        <p:spPr>
          <a:xfrm>
            <a:off x="731520" y="3611880"/>
            <a:ext cx="2103120" cy="1645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749040"/>
            <a:ext cx="1828800" cy="1371600"/>
          </a:xfrm>
          <a:prstGeom prst="rect">
            <a:avLst/>
          </a:prstGeom>
          <a:noFill/>
        </p:spPr>
        <p:txBody>
          <a:bodyPr wrap="square">
            <a:spAutoFit/>
          </a:bodyPr>
          <a:lstStyle/>
          <a:p>
            <a:pPr>
              <a:defRPr sz="2800" b="1">
                <a:solidFill>
                  <a:srgbClr val="8B5CF6"/>
                </a:solidFill>
                <a:latin typeface="Segoe UI"/>
              </a:defRPr>
            </a:pPr>
            <a:r>
              <a:t>12</a:t>
            </a:r>
          </a:p>
          <a:p>
            <a:pPr>
              <a:defRPr sz="1100">
                <a:solidFill>
                  <a:srgbClr val="64748B"/>
                </a:solidFill>
                <a:latin typeface="Segoe UI"/>
              </a:defRPr>
            </a:pPr>
            <a:r>
              <a:t>IMU Signal Channels</a:t>
            </a:r>
          </a:p>
        </p:txBody>
      </p:sp>
      <p:sp>
        <p:nvSpPr>
          <p:cNvPr id="19" name="Rounded Rectangle 18"/>
          <p:cNvSpPr/>
          <p:nvPr/>
        </p:nvSpPr>
        <p:spPr>
          <a:xfrm>
            <a:off x="3063240" y="3611880"/>
            <a:ext cx="2103120" cy="1645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0" y="3749040"/>
            <a:ext cx="1828800" cy="1371600"/>
          </a:xfrm>
          <a:prstGeom prst="rect">
            <a:avLst/>
          </a:prstGeom>
          <a:noFill/>
        </p:spPr>
        <p:txBody>
          <a:bodyPr wrap="square">
            <a:spAutoFit/>
          </a:bodyPr>
          <a:lstStyle/>
          <a:p>
            <a:pPr>
              <a:defRPr sz="2800" b="1">
                <a:solidFill>
                  <a:srgbClr val="10B981"/>
                </a:solidFill>
                <a:latin typeface="Segoe UI"/>
              </a:defRPr>
            </a:pPr>
            <a:r>
              <a:t>40,022</a:t>
            </a:r>
          </a:p>
          <a:p>
            <a:pPr>
              <a:defRPr sz="1100">
                <a:solidFill>
                  <a:srgbClr val="64748B"/>
                </a:solidFill>
                <a:latin typeface="Segoe UI"/>
              </a:defRPr>
            </a:pPr>
            <a:r>
              <a:t>Extracted 250 ms Windows</a:t>
            </a:r>
          </a:p>
        </p:txBody>
      </p:sp>
      <p:pic>
        <p:nvPicPr>
          <p:cNvPr id="21" name="Picture 20" descr="slide05_windows_per_object.png"/>
          <p:cNvPicPr>
            <a:picLocks noChangeAspect="1"/>
          </p:cNvPicPr>
          <p:nvPr/>
        </p:nvPicPr>
        <p:blipFill>
          <a:blip r:embed="rId2"/>
          <a:stretch>
            <a:fillRect/>
          </a:stretch>
        </p:blipFill>
        <p:spPr>
          <a:xfrm>
            <a:off x="5486400" y="1645920"/>
            <a:ext cx="5943600" cy="3948858"/>
          </a:xfrm>
          <a:prstGeom prst="rect">
            <a:avLst/>
          </a:prstGeom>
        </p:spPr>
      </p:pic>
      <p:sp>
        <p:nvSpPr>
          <p:cNvPr id="22" name="TextBox 21"/>
          <p:cNvSpPr txBox="1"/>
          <p:nvPr/>
        </p:nvSpPr>
        <p:spPr>
          <a:xfrm>
            <a:off x="731520" y="5852160"/>
            <a:ext cx="10698480" cy="457200"/>
          </a:xfrm>
          <a:prstGeom prst="rect">
            <a:avLst/>
          </a:prstGeom>
          <a:noFill/>
        </p:spPr>
        <p:txBody>
          <a:bodyPr wrap="none">
            <a:spAutoFit/>
          </a:bodyPr>
          <a:lstStyle/>
          <a:p>
            <a:pPr>
              <a:defRPr sz="1100">
                <a:solidFill>
                  <a:srgbClr val="64748B"/>
                </a:solidFill>
              </a:defRPr>
            </a:pPr>
            <a:r>
              <a:t>Dataset Source: SLID-CH Open Benchmark, Zenodo Repository 15886336 (Compliant Hands with Dual Fingertip IMUs).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Data Cleaning: Removing Sensor Dropouts and Air Transit Gaps</a:t>
            </a:r>
          </a:p>
          <a:p>
            <a:pPr>
              <a:defRPr sz="1250">
                <a:solidFill>
                  <a:srgbClr val="64748B"/>
                </a:solidFill>
                <a:latin typeface="Segoe UI"/>
              </a:defRPr>
            </a:pPr>
            <a:r>
              <a:t>A four-stage verification protocol prepares raw continuous streams for tabular windowing.</a:t>
            </a:r>
          </a:p>
        </p:txBody>
      </p:sp>
      <p:sp>
        <p:nvSpPr>
          <p:cNvPr id="13" name="Rounded Rectangle 12"/>
          <p:cNvSpPr/>
          <p:nvPr/>
        </p:nvSpPr>
        <p:spPr>
          <a:xfrm>
            <a:off x="731520" y="1828800"/>
            <a:ext cx="2468880" cy="347472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011680"/>
            <a:ext cx="2139696" cy="3108960"/>
          </a:xfrm>
          <a:prstGeom prst="rect">
            <a:avLst/>
          </a:prstGeom>
          <a:noFill/>
        </p:spPr>
        <p:txBody>
          <a:bodyPr wrap="square">
            <a:spAutoFit/>
          </a:bodyPr>
          <a:lstStyle/>
          <a:p>
            <a:pPr>
              <a:defRPr sz="1100" b="1">
                <a:solidFill>
                  <a:srgbClr val="0F172A"/>
                </a:solidFill>
                <a:latin typeface="Segoe UI"/>
              </a:defRPr>
            </a:pPr>
            <a:r>
              <a:t>STEP 01</a:t>
            </a:r>
          </a:p>
          <a:p>
            <a:pPr>
              <a:spcBef>
                <a:spcPts val="400"/>
              </a:spcBef>
              <a:defRPr sz="1800" b="1">
                <a:solidFill>
                  <a:srgbClr val="0F172A"/>
                </a:solidFill>
                <a:latin typeface="Georgia"/>
              </a:defRPr>
            </a:pPr>
            <a:r>
              <a:t>Raw Telemetry</a:t>
            </a:r>
          </a:p>
          <a:p>
            <a:pPr>
              <a:spcBef>
                <a:spcPts val="800"/>
              </a:spcBef>
              <a:defRPr sz="1300" b="1">
                <a:solidFill>
                  <a:srgbClr val="0F172A"/>
                </a:solidFill>
                <a:latin typeface="Segoe UI"/>
              </a:defRPr>
            </a:pPr>
            <a:r>
              <a:t>721,392 Samples</a:t>
            </a:r>
            <a:br/>
            <a:r>
              <a:t>195 Continuous Grasp Trials</a:t>
            </a:r>
          </a:p>
          <a:p>
            <a:pPr>
              <a:spcBef>
                <a:spcPts val="1000"/>
              </a:spcBef>
              <a:defRPr sz="1200">
                <a:solidFill>
                  <a:srgbClr val="64748B"/>
                </a:solidFill>
                <a:latin typeface="Segoe UI"/>
              </a:defRPr>
            </a:pPr>
            <a:r>
              <a:t>Full 12-channel continuous IMU streams at 122 Hz.</a:t>
            </a:r>
          </a:p>
        </p:txBody>
      </p:sp>
      <p:sp>
        <p:nvSpPr>
          <p:cNvPr id="15" name="Rounded Rectangle 14"/>
          <p:cNvSpPr/>
          <p:nvPr/>
        </p:nvSpPr>
        <p:spPr>
          <a:xfrm>
            <a:off x="3456432" y="1828800"/>
            <a:ext cx="2468880" cy="3474720"/>
          </a:xfrm>
          <a:prstGeom prst="roundRect">
            <a:avLst/>
          </a:prstGeom>
          <a:solidFill>
            <a:srgbClr val="FFFFFF"/>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21024" y="2011680"/>
            <a:ext cx="2139696" cy="3108960"/>
          </a:xfrm>
          <a:prstGeom prst="rect">
            <a:avLst/>
          </a:prstGeom>
          <a:noFill/>
        </p:spPr>
        <p:txBody>
          <a:bodyPr wrap="square">
            <a:spAutoFit/>
          </a:bodyPr>
          <a:lstStyle/>
          <a:p>
            <a:pPr>
              <a:defRPr sz="1100" b="1">
                <a:solidFill>
                  <a:srgbClr val="06B6D4"/>
                </a:solidFill>
                <a:latin typeface="Segoe UI"/>
              </a:defRPr>
            </a:pPr>
            <a:r>
              <a:t>STEP 02</a:t>
            </a:r>
          </a:p>
          <a:p>
            <a:pPr>
              <a:spcBef>
                <a:spcPts val="400"/>
              </a:spcBef>
              <a:defRPr sz="1800" b="1">
                <a:solidFill>
                  <a:srgbClr val="0F172A"/>
                </a:solidFill>
                <a:latin typeface="Georgia"/>
              </a:defRPr>
            </a:pPr>
            <a:r>
              <a:t>Quality Audit</a:t>
            </a:r>
          </a:p>
          <a:p>
            <a:pPr>
              <a:spcBef>
                <a:spcPts val="800"/>
              </a:spcBef>
              <a:defRPr sz="1300" b="1">
                <a:solidFill>
                  <a:srgbClr val="06B6D4"/>
                </a:solidFill>
                <a:latin typeface="Segoe UI"/>
              </a:defRPr>
            </a:pPr>
            <a:r>
              <a:t>Zero Nulls</a:t>
            </a:r>
            <a:br/>
            <a:r>
              <a:t>Timestamps Ordered</a:t>
            </a:r>
          </a:p>
          <a:p>
            <a:pPr>
              <a:spcBef>
                <a:spcPts val="1000"/>
              </a:spcBef>
              <a:defRPr sz="1200">
                <a:solidFill>
                  <a:srgbClr val="64748B"/>
                </a:solidFill>
                <a:latin typeface="Segoe UI"/>
              </a:defRPr>
            </a:pPr>
            <a:r>
              <a:t>All 12 channels verified with monotonic timestamps.</a:t>
            </a:r>
          </a:p>
        </p:txBody>
      </p:sp>
      <p:sp>
        <p:nvSpPr>
          <p:cNvPr id="17" name="Rounded Rectangle 16"/>
          <p:cNvSpPr/>
          <p:nvPr/>
        </p:nvSpPr>
        <p:spPr>
          <a:xfrm>
            <a:off x="6181344" y="1828800"/>
            <a:ext cx="2468880" cy="347472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2011680"/>
            <a:ext cx="2139696" cy="3108960"/>
          </a:xfrm>
          <a:prstGeom prst="rect">
            <a:avLst/>
          </a:prstGeom>
          <a:noFill/>
        </p:spPr>
        <p:txBody>
          <a:bodyPr wrap="square">
            <a:spAutoFit/>
          </a:bodyPr>
          <a:lstStyle/>
          <a:p>
            <a:pPr>
              <a:defRPr sz="1100" b="1">
                <a:solidFill>
                  <a:srgbClr val="F59E0B"/>
                </a:solidFill>
                <a:latin typeface="Segoe UI"/>
              </a:defRPr>
            </a:pPr>
            <a:r>
              <a:t>STEP 03</a:t>
            </a:r>
          </a:p>
          <a:p>
            <a:pPr>
              <a:spcBef>
                <a:spcPts val="400"/>
              </a:spcBef>
              <a:defRPr sz="1800" b="1">
                <a:solidFill>
                  <a:srgbClr val="0F172A"/>
                </a:solidFill>
                <a:latin typeface="Georgia"/>
              </a:defRPr>
            </a:pPr>
            <a:r>
              <a:t>Hardware Filter</a:t>
            </a:r>
          </a:p>
          <a:p>
            <a:pPr>
              <a:spcBef>
                <a:spcPts val="800"/>
              </a:spcBef>
              <a:defRPr sz="1300" b="1">
                <a:solidFill>
                  <a:srgbClr val="F59E0B"/>
                </a:solidFill>
                <a:latin typeface="Segoe UI"/>
              </a:defRPr>
            </a:pPr>
            <a:r>
              <a:t>3 Dead Trials Removed</a:t>
            </a:r>
            <a:br/>
            <a:r>
              <a:t>195 -&gt; 192 Trials</a:t>
            </a:r>
          </a:p>
          <a:p>
            <a:pPr>
              <a:spcBef>
                <a:spcPts val="1000"/>
              </a:spcBef>
              <a:defRPr sz="1200">
                <a:solidFill>
                  <a:srgbClr val="64748B"/>
                </a:solidFill>
                <a:latin typeface="Segoe UI"/>
              </a:defRPr>
            </a:pPr>
            <a:r>
              <a:t>Isolated frozen IMU channels in rubix_cube and soup_can.</a:t>
            </a:r>
          </a:p>
        </p:txBody>
      </p:sp>
      <p:sp>
        <p:nvSpPr>
          <p:cNvPr id="19" name="Rounded Rectangle 18"/>
          <p:cNvSpPr/>
          <p:nvPr/>
        </p:nvSpPr>
        <p:spPr>
          <a:xfrm>
            <a:off x="8906256" y="1828800"/>
            <a:ext cx="2468880" cy="347472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0848" y="2011680"/>
            <a:ext cx="2139696" cy="3108960"/>
          </a:xfrm>
          <a:prstGeom prst="rect">
            <a:avLst/>
          </a:prstGeom>
          <a:noFill/>
        </p:spPr>
        <p:txBody>
          <a:bodyPr wrap="square">
            <a:spAutoFit/>
          </a:bodyPr>
          <a:lstStyle/>
          <a:p>
            <a:pPr>
              <a:defRPr sz="1100" b="1">
                <a:solidFill>
                  <a:srgbClr val="10B981"/>
                </a:solidFill>
                <a:latin typeface="Segoe UI"/>
              </a:defRPr>
            </a:pPr>
            <a:r>
              <a:t>STEP 04</a:t>
            </a:r>
          </a:p>
          <a:p>
            <a:pPr>
              <a:spcBef>
                <a:spcPts val="400"/>
              </a:spcBef>
              <a:defRPr sz="1800" b="1">
                <a:solidFill>
                  <a:srgbClr val="0F172A"/>
                </a:solidFill>
                <a:latin typeface="Georgia"/>
              </a:defRPr>
            </a:pPr>
            <a:r>
              <a:t>Contact Masking</a:t>
            </a:r>
          </a:p>
          <a:p>
            <a:pPr>
              <a:spcBef>
                <a:spcPts val="800"/>
              </a:spcBef>
              <a:defRPr sz="1300" b="1">
                <a:solidFill>
                  <a:srgbClr val="10B981"/>
                </a:solidFill>
                <a:latin typeface="Segoe UI"/>
              </a:defRPr>
            </a:pPr>
            <a:r>
              <a:t>71,066 Samples Masked</a:t>
            </a:r>
            <a:br/>
            <a:r>
              <a:t>650,326 Active Contact</a:t>
            </a:r>
          </a:p>
          <a:p>
            <a:pPr>
              <a:spcBef>
                <a:spcPts val="1000"/>
              </a:spcBef>
              <a:defRPr sz="1200">
                <a:solidFill>
                  <a:srgbClr val="64748B"/>
                </a:solidFill>
                <a:latin typeface="Segoe UI"/>
              </a:defRPr>
            </a:pPr>
            <a:r>
              <a:t>Air-transit flight timesteps unlabelled (slip = NaN).</a:t>
            </a:r>
          </a:p>
        </p:txBody>
      </p:sp>
      <p:sp>
        <p:nvSpPr>
          <p:cNvPr id="21" name="Rounded Rectangle 20"/>
          <p:cNvSpPr/>
          <p:nvPr/>
        </p:nvSpPr>
        <p:spPr>
          <a:xfrm>
            <a:off x="731520" y="5486400"/>
            <a:ext cx="10698480" cy="822960"/>
          </a:xfrm>
          <a:prstGeom prst="roundRect">
            <a:avLst/>
          </a:prstGeom>
          <a:solidFill>
            <a:srgbClr val="FFFFFF"/>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577840"/>
            <a:ext cx="10332720" cy="640080"/>
          </a:xfrm>
          <a:prstGeom prst="rect">
            <a:avLst/>
          </a:prstGeom>
          <a:noFill/>
        </p:spPr>
        <p:txBody>
          <a:bodyPr wrap="square">
            <a:spAutoFit/>
          </a:bodyPr>
          <a:lstStyle/>
          <a:p>
            <a:pPr>
              <a:defRPr sz="1250" b="1">
                <a:solidFill>
                  <a:srgbClr val="0F172A"/>
                </a:solidFill>
              </a:defRPr>
            </a:pPr>
            <a:r>
              <a:t>Cleaning Outcome: Zero artificial imputation bias introduced. Only verified, active fingertip contact timesteps enter the feature extraction stage.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Ground Truth Kinematics &amp; 250 ms Temporal Windowing</a:t>
            </a:r>
          </a:p>
          <a:p>
            <a:pPr>
              <a:defRPr sz="1250">
                <a:solidFill>
                  <a:srgbClr val="64748B"/>
                </a:solidFill>
                <a:latin typeface="Segoe UI"/>
              </a:defRPr>
            </a:pPr>
            <a:r>
              <a:t>Slip is defined when optical motion capture velocity exceeds 0.06 m/s (6 cm/s).</a:t>
            </a:r>
          </a:p>
        </p:txBody>
      </p:sp>
      <p:pic>
        <p:nvPicPr>
          <p:cNvPr id="13" name="Picture 12" descr="slide07_kinematic_ground_truth.png"/>
          <p:cNvPicPr>
            <a:picLocks noChangeAspect="1"/>
          </p:cNvPicPr>
          <p:nvPr/>
        </p:nvPicPr>
        <p:blipFill>
          <a:blip r:embed="rId2"/>
          <a:stretch>
            <a:fillRect/>
          </a:stretch>
        </p:blipFill>
        <p:spPr>
          <a:xfrm>
            <a:off x="731520" y="1645920"/>
            <a:ext cx="10698480" cy="3912389"/>
          </a:xfrm>
          <a:prstGeom prst="rect">
            <a:avLst/>
          </a:prstGeom>
        </p:spPr>
      </p:pic>
      <p:sp>
        <p:nvSpPr>
          <p:cNvPr id="14" name="Rounded Rectangle 13"/>
          <p:cNvSpPr/>
          <p:nvPr/>
        </p:nvSpPr>
        <p:spPr>
          <a:xfrm>
            <a:off x="731520" y="5577840"/>
            <a:ext cx="10698480" cy="8229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10332720" cy="731520"/>
          </a:xfrm>
          <a:prstGeom prst="rect">
            <a:avLst/>
          </a:prstGeom>
          <a:noFill/>
        </p:spPr>
        <p:txBody>
          <a:bodyPr wrap="square">
            <a:spAutoFit/>
          </a:bodyPr>
          <a:lstStyle/>
          <a:p>
            <a:pPr>
              <a:defRPr sz="1150" b="1">
                <a:solidFill>
                  <a:srgbClr val="0F172A"/>
                </a:solidFill>
                <a:latin typeface="Segoe UI"/>
              </a:defRPr>
            </a:pPr>
            <a:r>
              <a:t>Mathematical Ground Truth Criterion: Relative speed v_contact = max(v_LP, v_LD, v_RP, v_RD). Values ≥ 0.06 m/s mark slip (1); values &lt; 0.06 m/s denote stable hold (0). 100.0% mathematical match with dataset labels.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Extracting 84 Statistical Features from 12 Continuous Channels</a:t>
            </a:r>
          </a:p>
          <a:p>
            <a:pPr>
              <a:defRPr sz="1250">
                <a:solidFill>
                  <a:srgbClr val="64748B"/>
                </a:solidFill>
                <a:latin typeface="Segoe UI"/>
              </a:defRPr>
            </a:pPr>
            <a:r>
              <a:t>Capturing signal energy, dispersion, and rate-of-change jerk across spatial axes.</a:t>
            </a:r>
          </a:p>
        </p:txBody>
      </p:sp>
      <p:sp>
        <p:nvSpPr>
          <p:cNvPr id="13" name="Rounded Rectangle 12"/>
          <p:cNvSpPr/>
          <p:nvPr/>
        </p:nvSpPr>
        <p:spPr>
          <a:xfrm>
            <a:off x="731520" y="1828800"/>
            <a:ext cx="10698480" cy="1188720"/>
          </a:xfrm>
          <a:prstGeom prst="roundRect">
            <a:avLst/>
          </a:prstGeom>
          <a:solidFill>
            <a:srgbClr val="FFFFFF"/>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1965960"/>
            <a:ext cx="10149840" cy="914400"/>
          </a:xfrm>
          <a:prstGeom prst="rect">
            <a:avLst/>
          </a:prstGeom>
          <a:noFill/>
        </p:spPr>
        <p:txBody>
          <a:bodyPr wrap="square">
            <a:spAutoFit/>
          </a:bodyPr>
          <a:lstStyle/>
          <a:p>
            <a:pPr>
              <a:defRPr sz="2500" b="1">
                <a:solidFill>
                  <a:srgbClr val="06B6D4"/>
                </a:solidFill>
                <a:latin typeface="Georgia"/>
              </a:defRPr>
            </a:pPr>
            <a:r>
              <a:t>12 IMU Channels  ×  7 Statistical Aggregations  =  84 Tabular Features</a:t>
            </a:r>
          </a:p>
          <a:p>
            <a:pPr>
              <a:spcBef>
                <a:spcPts val="400"/>
              </a:spcBef>
              <a:defRPr sz="1250">
                <a:solidFill>
                  <a:srgbClr val="0F172A"/>
                </a:solidFill>
                <a:latin typeface="Segoe UI"/>
              </a:defRPr>
            </a:pPr>
            <a:r>
              <a:t>Left &amp; Right Fingertips: [Ax, Ay, Az, Gx, Gy, Gz]  •  Transforms 721,392 raw timesteps into a 40,022 × 84 matrix.</a:t>
            </a:r>
          </a:p>
        </p:txBody>
      </p:sp>
      <p:sp>
        <p:nvSpPr>
          <p:cNvPr id="15" name="Rounded Rectangle 14"/>
          <p:cNvSpPr/>
          <p:nvPr/>
        </p:nvSpPr>
        <p:spPr>
          <a:xfrm>
            <a:off x="731520" y="3291840"/>
            <a:ext cx="2468880"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74720"/>
            <a:ext cx="2103120" cy="2560320"/>
          </a:xfrm>
          <a:prstGeom prst="rect">
            <a:avLst/>
          </a:prstGeom>
          <a:noFill/>
        </p:spPr>
        <p:txBody>
          <a:bodyPr wrap="square">
            <a:spAutoFit/>
          </a:bodyPr>
          <a:lstStyle/>
          <a:p>
            <a:pPr>
              <a:defRPr sz="1700" b="1">
                <a:solidFill>
                  <a:srgbClr val="0F172A"/>
                </a:solidFill>
                <a:latin typeface="Georgia"/>
              </a:defRPr>
            </a:pPr>
            <a:r>
              <a:t>Central Tendency</a:t>
            </a:r>
          </a:p>
          <a:p>
            <a:pPr>
              <a:spcBef>
                <a:spcPts val="400"/>
              </a:spcBef>
              <a:defRPr sz="1200" b="1">
                <a:solidFill>
                  <a:srgbClr val="06B6D4"/>
                </a:solidFill>
                <a:latin typeface="Segoe UI"/>
              </a:defRPr>
            </a:pPr>
            <a:r>
              <a:t>Mean &amp; Median</a:t>
            </a:r>
          </a:p>
          <a:p>
            <a:pPr>
              <a:spcBef>
                <a:spcPts val="1000"/>
              </a:spcBef>
              <a:defRPr sz="1200">
                <a:solidFill>
                  <a:srgbClr val="64748B"/>
                </a:solidFill>
                <a:latin typeface="Segoe UI"/>
              </a:defRPr>
            </a:pPr>
            <a:r>
              <a:t>Establishes baseline gravitational bias and sustained directional tilt during grasp hold.</a:t>
            </a:r>
          </a:p>
        </p:txBody>
      </p:sp>
      <p:sp>
        <p:nvSpPr>
          <p:cNvPr id="17" name="Rounded Rectangle 16"/>
          <p:cNvSpPr/>
          <p:nvPr/>
        </p:nvSpPr>
        <p:spPr>
          <a:xfrm>
            <a:off x="3474720" y="3291840"/>
            <a:ext cx="2468880"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3474720"/>
            <a:ext cx="2103120" cy="2560320"/>
          </a:xfrm>
          <a:prstGeom prst="rect">
            <a:avLst/>
          </a:prstGeom>
          <a:noFill/>
        </p:spPr>
        <p:txBody>
          <a:bodyPr wrap="square">
            <a:spAutoFit/>
          </a:bodyPr>
          <a:lstStyle/>
          <a:p>
            <a:pPr>
              <a:defRPr sz="1700" b="1">
                <a:solidFill>
                  <a:srgbClr val="0F172A"/>
                </a:solidFill>
                <a:latin typeface="Georgia"/>
              </a:defRPr>
            </a:pPr>
            <a:r>
              <a:t>Signal Dispersion</a:t>
            </a:r>
          </a:p>
          <a:p>
            <a:pPr>
              <a:spcBef>
                <a:spcPts val="400"/>
              </a:spcBef>
              <a:defRPr sz="1200" b="1">
                <a:solidFill>
                  <a:srgbClr val="06B6D4"/>
                </a:solidFill>
                <a:latin typeface="Segoe UI"/>
              </a:defRPr>
            </a:pPr>
            <a:r>
              <a:t>Std Dev &amp; Variance</a:t>
            </a:r>
          </a:p>
          <a:p>
            <a:pPr>
              <a:spcBef>
                <a:spcPts val="1000"/>
              </a:spcBef>
              <a:defRPr sz="1200">
                <a:solidFill>
                  <a:srgbClr val="64748B"/>
                </a:solidFill>
                <a:latin typeface="Segoe UI"/>
              </a:defRPr>
            </a:pPr>
            <a:r>
              <a:t>Measures vibration intensity and frictional chatter as silicone ridges shear.</a:t>
            </a:r>
          </a:p>
        </p:txBody>
      </p:sp>
      <p:sp>
        <p:nvSpPr>
          <p:cNvPr id="19" name="Rounded Rectangle 18"/>
          <p:cNvSpPr/>
          <p:nvPr/>
        </p:nvSpPr>
        <p:spPr>
          <a:xfrm>
            <a:off x="6217920" y="3291840"/>
            <a:ext cx="2468880"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474720"/>
            <a:ext cx="2103120" cy="2560320"/>
          </a:xfrm>
          <a:prstGeom prst="rect">
            <a:avLst/>
          </a:prstGeom>
          <a:noFill/>
        </p:spPr>
        <p:txBody>
          <a:bodyPr wrap="square">
            <a:spAutoFit/>
          </a:bodyPr>
          <a:lstStyle/>
          <a:p>
            <a:pPr>
              <a:defRPr sz="1700" b="1">
                <a:solidFill>
                  <a:srgbClr val="0F172A"/>
                </a:solidFill>
                <a:latin typeface="Georgia"/>
              </a:defRPr>
            </a:pPr>
            <a:r>
              <a:t>Energy &amp; Power</a:t>
            </a:r>
          </a:p>
          <a:p>
            <a:pPr>
              <a:spcBef>
                <a:spcPts val="400"/>
              </a:spcBef>
              <a:defRPr sz="1200" b="1">
                <a:solidFill>
                  <a:srgbClr val="06B6D4"/>
                </a:solidFill>
                <a:latin typeface="Segoe UI"/>
              </a:defRPr>
            </a:pPr>
            <a:r>
              <a:t>RMS (Root Mean Square)</a:t>
            </a:r>
          </a:p>
          <a:p>
            <a:pPr>
              <a:spcBef>
                <a:spcPts val="1000"/>
              </a:spcBef>
              <a:defRPr sz="1200">
                <a:solidFill>
                  <a:srgbClr val="64748B"/>
                </a:solidFill>
                <a:latin typeface="Segoe UI"/>
              </a:defRPr>
            </a:pPr>
            <a:r>
              <a:t>Quantifies overall kinetic energy transferred from slipping contact.</a:t>
            </a:r>
          </a:p>
        </p:txBody>
      </p:sp>
      <p:sp>
        <p:nvSpPr>
          <p:cNvPr id="21" name="Rounded Rectangle 20"/>
          <p:cNvSpPr/>
          <p:nvPr/>
        </p:nvSpPr>
        <p:spPr>
          <a:xfrm>
            <a:off x="8961120" y="3291840"/>
            <a:ext cx="2468880"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3474720"/>
            <a:ext cx="2103120" cy="2560320"/>
          </a:xfrm>
          <a:prstGeom prst="rect">
            <a:avLst/>
          </a:prstGeom>
          <a:noFill/>
        </p:spPr>
        <p:txBody>
          <a:bodyPr wrap="square">
            <a:spAutoFit/>
          </a:bodyPr>
          <a:lstStyle/>
          <a:p>
            <a:pPr>
              <a:defRPr sz="1700" b="1">
                <a:solidFill>
                  <a:srgbClr val="0F172A"/>
                </a:solidFill>
                <a:latin typeface="Georgia"/>
              </a:defRPr>
            </a:pPr>
            <a:r>
              <a:t>Dynamic Spikes</a:t>
            </a:r>
          </a:p>
          <a:p>
            <a:pPr>
              <a:spcBef>
                <a:spcPts val="400"/>
              </a:spcBef>
              <a:defRPr sz="1200" b="1">
                <a:solidFill>
                  <a:srgbClr val="06B6D4"/>
                </a:solidFill>
                <a:latin typeface="Segoe UI"/>
              </a:defRPr>
            </a:pPr>
            <a:r>
              <a:t>Range &amp; Max Jerk (da/dt)</a:t>
            </a:r>
          </a:p>
          <a:p>
            <a:pPr>
              <a:spcBef>
                <a:spcPts val="1000"/>
              </a:spcBef>
              <a:defRPr sz="1200">
                <a:solidFill>
                  <a:srgbClr val="64748B"/>
                </a:solidFill>
                <a:latin typeface="Segoe UI"/>
              </a:defRPr>
            </a:pPr>
            <a:r>
              <a:t>Captures abrupt acceleration transients as sticking transitions to slipping.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Exploratory Data Analysis: Object Imbalance &amp; Energy Separability</a:t>
            </a:r>
          </a:p>
          <a:p>
            <a:pPr>
              <a:defRPr sz="1250">
                <a:solidFill>
                  <a:srgbClr val="64748B"/>
                </a:solidFill>
                <a:latin typeface="Segoe UI"/>
              </a:defRPr>
            </a:pPr>
            <a:r>
              <a:t>Syllabus techniques: Class distributions expose extreme skew while RMS boxplots demonstrate separability.</a:t>
            </a:r>
          </a:p>
        </p:txBody>
      </p:sp>
      <p:pic>
        <p:nvPicPr>
          <p:cNvPr id="13" name="Picture 12" descr="slide09_eda_two_panels.png"/>
          <p:cNvPicPr>
            <a:picLocks noChangeAspect="1"/>
          </p:cNvPicPr>
          <p:nvPr/>
        </p:nvPicPr>
        <p:blipFill>
          <a:blip r:embed="rId2"/>
          <a:stretch>
            <a:fillRect/>
          </a:stretch>
        </p:blipFill>
        <p:spPr>
          <a:xfrm>
            <a:off x="731520" y="1645920"/>
            <a:ext cx="10698480" cy="3912389"/>
          </a:xfrm>
          <a:prstGeom prst="rect">
            <a:avLst/>
          </a:prstGeom>
        </p:spPr>
      </p:pic>
      <p:sp>
        <p:nvSpPr>
          <p:cNvPr id="14" name="Rounded Rectangle 13"/>
          <p:cNvSpPr/>
          <p:nvPr/>
        </p:nvSpPr>
        <p:spPr>
          <a:xfrm>
            <a:off x="731520" y="5577840"/>
            <a:ext cx="10698480" cy="8229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10332720" cy="731520"/>
          </a:xfrm>
          <a:prstGeom prst="rect">
            <a:avLst/>
          </a:prstGeom>
          <a:noFill/>
        </p:spPr>
        <p:txBody>
          <a:bodyPr wrap="square">
            <a:spAutoFit/>
          </a:bodyPr>
          <a:lstStyle/>
          <a:p>
            <a:pPr>
              <a:defRPr sz="1150" b="1">
                <a:solidFill>
                  <a:srgbClr val="0F172A"/>
                </a:solidFill>
                <a:latin typeface="Segoe UI"/>
              </a:defRPr>
            </a:pPr>
            <a:r>
              <a:t>Key EDA Insights: Global balance is 52% stable vs 48% slip, but Pringles Can has only 2.7% slip prevalence! The right panel proves fingertip acceleration RMS shifts distinctly higher during slip events, providing separable features.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Benchmarking Five Diverse Classical Algorithms</a:t>
            </a:r>
          </a:p>
          <a:p>
            <a:pPr>
              <a:defRPr sz="1250">
                <a:solidFill>
                  <a:srgbClr val="64748B"/>
                </a:solidFill>
                <a:latin typeface="Segoe UI"/>
              </a:defRPr>
            </a:pPr>
            <a:r>
              <a:t>Evaluating linear boundaries, instance neighborhoods, bagged ensembles, and gradient boosting.</a:t>
            </a:r>
          </a:p>
        </p:txBody>
      </p:sp>
      <p:sp>
        <p:nvSpPr>
          <p:cNvPr id="13" name="Rounded Rectangle 12"/>
          <p:cNvSpPr/>
          <p:nvPr/>
        </p:nvSpPr>
        <p:spPr>
          <a:xfrm>
            <a:off x="731520" y="1828800"/>
            <a:ext cx="10698480" cy="749808"/>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1901952"/>
            <a:ext cx="10149840" cy="603504"/>
          </a:xfrm>
          <a:prstGeom prst="rect">
            <a:avLst/>
          </a:prstGeom>
          <a:noFill/>
        </p:spPr>
        <p:txBody>
          <a:bodyPr wrap="square">
            <a:spAutoFit/>
          </a:bodyPr>
          <a:lstStyle/>
          <a:p>
            <a:pPr>
              <a:defRPr sz="1600" b="1">
                <a:solidFill>
                  <a:srgbClr val="0F172A"/>
                </a:solidFill>
                <a:latin typeface="Georgia"/>
              </a:defRPr>
            </a:pPr>
            <a:r>
              <a:t>Logistic Regression  —  </a:t>
            </a:r>
            <a:r>
              <a:rPr sz="1200" b="1">
                <a:solidFill>
                  <a:srgbClr val="64748B"/>
                </a:solidFill>
                <a:latin typeface="Segoe UI"/>
              </a:rPr>
              <a:t>L2 Regularized Linear Classifier</a:t>
            </a:r>
          </a:p>
          <a:p>
            <a:pPr>
              <a:defRPr sz="1150">
                <a:solidFill>
                  <a:srgbClr val="0F172A"/>
                </a:solidFill>
                <a:latin typeface="Segoe UI"/>
              </a:defRPr>
            </a:pPr>
            <a:r>
              <a:t>Establishes a convex parametric baseline using normalized continuous feature coefficients.</a:t>
            </a:r>
          </a:p>
        </p:txBody>
      </p:sp>
      <p:sp>
        <p:nvSpPr>
          <p:cNvPr id="15" name="Rounded Rectangle 14"/>
          <p:cNvSpPr/>
          <p:nvPr/>
        </p:nvSpPr>
        <p:spPr>
          <a:xfrm>
            <a:off x="731520" y="2697480"/>
            <a:ext cx="10698480" cy="749808"/>
          </a:xfrm>
          <a:prstGeom prst="roundRect">
            <a:avLst/>
          </a:prstGeom>
          <a:solidFill>
            <a:srgbClr val="FFFFFF"/>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2770632"/>
            <a:ext cx="10149840" cy="603504"/>
          </a:xfrm>
          <a:prstGeom prst="rect">
            <a:avLst/>
          </a:prstGeom>
          <a:noFill/>
        </p:spPr>
        <p:txBody>
          <a:bodyPr wrap="square">
            <a:spAutoFit/>
          </a:bodyPr>
          <a:lstStyle/>
          <a:p>
            <a:pPr>
              <a:defRPr sz="1600" b="1">
                <a:solidFill>
                  <a:srgbClr val="06B6D4"/>
                </a:solidFill>
                <a:latin typeface="Georgia"/>
              </a:defRPr>
            </a:pPr>
            <a:r>
              <a:t>K-Nearest Neighbors  —  </a:t>
            </a:r>
            <a:r>
              <a:rPr sz="1200" b="1">
                <a:solidFill>
                  <a:srgbClr val="64748B"/>
                </a:solidFill>
                <a:latin typeface="Segoe UI"/>
              </a:rPr>
              <a:t>Distance-Weighted (k = 5)</a:t>
            </a:r>
          </a:p>
          <a:p>
            <a:pPr>
              <a:defRPr sz="1150">
                <a:solidFill>
                  <a:srgbClr val="0F172A"/>
                </a:solidFill>
                <a:latin typeface="Segoe UI"/>
              </a:defRPr>
            </a:pPr>
            <a:r>
              <a:t>Non-parametric instance learning capturing localized geometric clusters in standard-scaled space.</a:t>
            </a:r>
          </a:p>
        </p:txBody>
      </p:sp>
      <p:sp>
        <p:nvSpPr>
          <p:cNvPr id="17" name="Rounded Rectangle 16"/>
          <p:cNvSpPr/>
          <p:nvPr/>
        </p:nvSpPr>
        <p:spPr>
          <a:xfrm>
            <a:off x="731520" y="3566160"/>
            <a:ext cx="10698480" cy="749808"/>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639312"/>
            <a:ext cx="10149840" cy="603504"/>
          </a:xfrm>
          <a:prstGeom prst="rect">
            <a:avLst/>
          </a:prstGeom>
          <a:noFill/>
        </p:spPr>
        <p:txBody>
          <a:bodyPr wrap="square">
            <a:spAutoFit/>
          </a:bodyPr>
          <a:lstStyle/>
          <a:p>
            <a:pPr>
              <a:defRPr sz="1600" b="1">
                <a:solidFill>
                  <a:srgbClr val="10B981"/>
                </a:solidFill>
                <a:latin typeface="Georgia"/>
              </a:defRPr>
            </a:pPr>
            <a:r>
              <a:t>Random Forest  —  </a:t>
            </a:r>
            <a:r>
              <a:rPr sz="1200" b="1">
                <a:solidFill>
                  <a:srgbClr val="64748B"/>
                </a:solidFill>
                <a:latin typeface="Segoe UI"/>
              </a:rPr>
              <a:t>100-Tree Bagged Ensemble</a:t>
            </a:r>
          </a:p>
          <a:p>
            <a:pPr>
              <a:defRPr sz="1150">
                <a:solidFill>
                  <a:srgbClr val="0F172A"/>
                </a:solidFill>
                <a:latin typeface="Segoe UI"/>
              </a:defRPr>
            </a:pPr>
            <a:r>
              <a:t>Averages decorrelated decision trees, reducing variance and handling non-linear threshold splits.</a:t>
            </a:r>
          </a:p>
        </p:txBody>
      </p:sp>
      <p:sp>
        <p:nvSpPr>
          <p:cNvPr id="19" name="Rounded Rectangle 18"/>
          <p:cNvSpPr/>
          <p:nvPr/>
        </p:nvSpPr>
        <p:spPr>
          <a:xfrm>
            <a:off x="731520" y="4434840"/>
            <a:ext cx="10698480" cy="749808"/>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507992"/>
            <a:ext cx="10149840" cy="603504"/>
          </a:xfrm>
          <a:prstGeom prst="rect">
            <a:avLst/>
          </a:prstGeom>
          <a:noFill/>
        </p:spPr>
        <p:txBody>
          <a:bodyPr wrap="square">
            <a:spAutoFit/>
          </a:bodyPr>
          <a:lstStyle/>
          <a:p>
            <a:pPr>
              <a:defRPr sz="1600" b="1">
                <a:solidFill>
                  <a:srgbClr val="F59E0B"/>
                </a:solidFill>
                <a:latin typeface="Georgia"/>
              </a:defRPr>
            </a:pPr>
            <a:r>
              <a:t>LightGBM  —  </a:t>
            </a:r>
            <a:r>
              <a:rPr sz="1200" b="1">
                <a:solidFill>
                  <a:srgbClr val="64748B"/>
                </a:solidFill>
                <a:latin typeface="Segoe UI"/>
              </a:rPr>
              <a:t>Leaf-Wise Gradient Boosting</a:t>
            </a:r>
          </a:p>
          <a:p>
            <a:pPr>
              <a:defRPr sz="1150">
                <a:solidFill>
                  <a:srgbClr val="0F172A"/>
                </a:solidFill>
                <a:latin typeface="Segoe UI"/>
              </a:defRPr>
            </a:pPr>
            <a:r>
              <a:t>Constructs asymmetric decision trees optimizing loss gradients with extreme inference speed.</a:t>
            </a:r>
          </a:p>
        </p:txBody>
      </p:sp>
      <p:sp>
        <p:nvSpPr>
          <p:cNvPr id="21" name="Rounded Rectangle 20"/>
          <p:cNvSpPr/>
          <p:nvPr/>
        </p:nvSpPr>
        <p:spPr>
          <a:xfrm>
            <a:off x="731520" y="5303520"/>
            <a:ext cx="10698480" cy="749808"/>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376672"/>
            <a:ext cx="10149840" cy="603504"/>
          </a:xfrm>
          <a:prstGeom prst="rect">
            <a:avLst/>
          </a:prstGeom>
          <a:noFill/>
        </p:spPr>
        <p:txBody>
          <a:bodyPr wrap="square">
            <a:spAutoFit/>
          </a:bodyPr>
          <a:lstStyle/>
          <a:p>
            <a:pPr>
              <a:defRPr sz="1600" b="1">
                <a:solidFill>
                  <a:srgbClr val="8B5CF6"/>
                </a:solidFill>
                <a:latin typeface="Georgia"/>
              </a:defRPr>
            </a:pPr>
            <a:r>
              <a:t>CatBoost  —  </a:t>
            </a:r>
            <a:r>
              <a:rPr sz="1200" b="1">
                <a:solidFill>
                  <a:srgbClr val="64748B"/>
                </a:solidFill>
                <a:latin typeface="Segoe UI"/>
              </a:rPr>
              <a:t>Symmetric Oblivious Decision Trees</a:t>
            </a:r>
          </a:p>
          <a:p>
            <a:pPr>
              <a:defRPr sz="1150">
                <a:solidFill>
                  <a:srgbClr val="0F172A"/>
                </a:solidFill>
                <a:latin typeface="Segoe UI"/>
              </a:defRPr>
            </a:pPr>
            <a:r>
              <a:t>Applies ordered target boosting, offering superior resistance to overfitting on tactile dynamics.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Validation Protocol: Zero-Leakage 5-Fold GroupKFold Cross-Validation</a:t>
            </a:r>
          </a:p>
          <a:p>
            <a:pPr>
              <a:defRPr sz="1250">
                <a:solidFill>
                  <a:srgbClr val="64748B"/>
                </a:solidFill>
                <a:latin typeface="Segoe UI"/>
              </a:defRPr>
            </a:pPr>
            <a:r>
              <a:t>Strict grouping by physical trial_id prevents temporal autocorrelation and inflated scores.</a:t>
            </a:r>
          </a:p>
        </p:txBody>
      </p:sp>
      <p:sp>
        <p:nvSpPr>
          <p:cNvPr id="13" name="Rounded Rectangle 12"/>
          <p:cNvSpPr/>
          <p:nvPr/>
        </p:nvSpPr>
        <p:spPr>
          <a:xfrm>
            <a:off x="731520" y="1828800"/>
            <a:ext cx="5120640" cy="4389120"/>
          </a:xfrm>
          <a:prstGeom prst="roundRect">
            <a:avLst/>
          </a:prstGeom>
          <a:solidFill>
            <a:srgbClr val="FFFFFF"/>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011680"/>
            <a:ext cx="4572000" cy="3931920"/>
          </a:xfrm>
          <a:prstGeom prst="rect">
            <a:avLst/>
          </a:prstGeom>
          <a:noFill/>
        </p:spPr>
        <p:txBody>
          <a:bodyPr wrap="square">
            <a:spAutoFit/>
          </a:bodyPr>
          <a:lstStyle/>
          <a:p>
            <a:pPr>
              <a:defRPr sz="1100" b="1">
                <a:solidFill>
                  <a:srgbClr val="06B6D4"/>
                </a:solidFill>
                <a:latin typeface="Segoe UI"/>
              </a:defRPr>
            </a:pPr>
            <a:r>
              <a:t>5-FOLD GROUPKFOLD ARCHITECTURE</a:t>
            </a:r>
          </a:p>
          <a:p>
            <a:pPr>
              <a:spcBef>
                <a:spcPts val="400"/>
              </a:spcBef>
              <a:defRPr sz="2100" b="1">
                <a:solidFill>
                  <a:srgbClr val="0F172A"/>
                </a:solidFill>
                <a:latin typeface="Georgia"/>
              </a:defRPr>
            </a:pPr>
            <a:r>
              <a:t>Grouped Strictly by Trial ID</a:t>
            </a:r>
          </a:p>
          <a:p>
            <a:pPr>
              <a:spcBef>
                <a:spcPts val="1200"/>
              </a:spcBef>
              <a:defRPr sz="1300">
                <a:solidFill>
                  <a:srgbClr val="64748B"/>
                </a:solidFill>
                <a:latin typeface="Segoe UI"/>
              </a:defRPr>
            </a:pPr>
            <a:r>
              <a:t>1. All 192 clean trials split into 5 mutually exclusive folds.</a:t>
            </a:r>
            <a:br/>
            <a:r>
              <a:t>2. Train on 4 folds (~153 trials), test on 1 held-out fold (~39 trials).</a:t>
            </a:r>
            <a:br/>
            <a:r>
              <a:t>3. Zero trials or grasp instances shared across splits.</a:t>
            </a:r>
            <a:br/>
            <a:r>
              <a:t>4. Standard scaler fitted strictly on training partition per fold.</a:t>
            </a:r>
            <a:br/>
            <a:r>
              <a:t>5. Out-of-fold predictions pooled across all 40,022 windows.</a:t>
            </a:r>
          </a:p>
        </p:txBody>
      </p:sp>
      <p:sp>
        <p:nvSpPr>
          <p:cNvPr id="15" name="Rounded Rectangle 14"/>
          <p:cNvSpPr/>
          <p:nvPr/>
        </p:nvSpPr>
        <p:spPr>
          <a:xfrm>
            <a:off x="6217920" y="182880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2011680"/>
            <a:ext cx="4663440" cy="3931920"/>
          </a:xfrm>
          <a:prstGeom prst="rect">
            <a:avLst/>
          </a:prstGeom>
          <a:noFill/>
        </p:spPr>
        <p:txBody>
          <a:bodyPr wrap="square">
            <a:spAutoFit/>
          </a:bodyPr>
          <a:lstStyle/>
          <a:p>
            <a:pPr>
              <a:defRPr sz="1100" b="1">
                <a:solidFill>
                  <a:srgbClr val="8B5CF6"/>
                </a:solidFill>
                <a:latin typeface="Segoe UI"/>
              </a:defRPr>
            </a:pPr>
            <a:r>
              <a:t>TWO EXPERIMENTAL CONFIGURATIONS</a:t>
            </a:r>
          </a:p>
          <a:p>
            <a:pPr>
              <a:spcBef>
                <a:spcPts val="400"/>
              </a:spcBef>
              <a:defRPr sz="2100" b="1">
                <a:solidFill>
                  <a:srgbClr val="0F172A"/>
                </a:solidFill>
                <a:latin typeface="Georgia"/>
              </a:defRPr>
            </a:pPr>
            <a:r>
              <a:t>Approach A vs Approach B</a:t>
            </a:r>
          </a:p>
          <a:p>
            <a:pPr>
              <a:spcBef>
                <a:spcPts val="1000"/>
              </a:spcBef>
              <a:defRPr sz="1300">
                <a:solidFill>
                  <a:srgbClr val="0F172A"/>
                </a:solidFill>
                <a:latin typeface="Segoe UI"/>
              </a:defRPr>
            </a:pPr>
            <a:r>
              <a:t>• Approach A (Sensor-Only IMU):</a:t>
            </a:r>
            <a:br/>
            <a:r>
              <a:t>  Uses strictly the 84 IMU statistical features.</a:t>
            </a:r>
            <a:br/>
            <a:r>
              <a:t>  Zero knowledge of what object is being grasped.</a:t>
            </a:r>
            <a:br/>
            <a:br/>
            <a:r>
              <a:t>• Approach B (Object-Aware):</a:t>
            </a:r>
            <a:br/>
            <a:r>
              <a:t>  Augments the 84 IMU features with object identity.</a:t>
            </a:r>
            <a:br/>
            <a:r>
              <a:t>  Simulates an upstream vision system providing the object name.</a:t>
            </a:r>
            <a:br/>
            <a:br/>
            <a:r>
              <a:t>Total Configurations: 5 Models × 2 Approaches = 10 Full Runs.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Benchmark Results: IMU Alone Reaches 84.6%, Object Identity Lifts to 96.1%</a:t>
            </a:r>
          </a:p>
          <a:p>
            <a:pPr>
              <a:defRPr sz="1250">
                <a:solidFill>
                  <a:srgbClr val="64748B"/>
                </a:solidFill>
                <a:latin typeface="Segoe UI"/>
              </a:defRPr>
            </a:pPr>
            <a:r>
              <a:t>CatBoost establishes SOTA across both configurations under zero-leakage GroupKFold.</a:t>
            </a:r>
          </a:p>
        </p:txBody>
      </p:sp>
      <p:graphicFrame>
        <p:nvGraphicFramePr>
          <p:cNvPr id="13" name="Chart 12"/>
          <p:cNvGraphicFramePr>
            <a:graphicFrameLocks noGrp="1"/>
          </p:cNvGraphicFramePr>
          <p:nvPr/>
        </p:nvGraphicFramePr>
        <p:xfrm>
          <a:off x="731520" y="1828800"/>
          <a:ext cx="6858000" cy="4114800"/>
        </p:xfrm>
        <a:graphic>
          <a:graphicData uri="http://schemas.openxmlformats.org/drawingml/2006/chart">
            <c:chart xmlns:c="http://schemas.openxmlformats.org/drawingml/2006/chart" r:id="rId2"/>
          </a:graphicData>
        </a:graphic>
      </p:graphicFrame>
      <p:sp>
        <p:nvSpPr>
          <p:cNvPr id="14" name="Rounded Rectangle 13"/>
          <p:cNvSpPr/>
          <p:nvPr/>
        </p:nvSpPr>
        <p:spPr>
          <a:xfrm>
            <a:off x="7863840" y="1828800"/>
            <a:ext cx="356616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2011680"/>
            <a:ext cx="3200400" cy="4023360"/>
          </a:xfrm>
          <a:prstGeom prst="rect">
            <a:avLst/>
          </a:prstGeom>
          <a:noFill/>
        </p:spPr>
        <p:txBody>
          <a:bodyPr wrap="square">
            <a:spAutoFit/>
          </a:bodyPr>
          <a:lstStyle/>
          <a:p>
            <a:pPr>
              <a:defRPr sz="1100" b="1">
                <a:solidFill>
                  <a:srgbClr val="06B6D4"/>
                </a:solidFill>
                <a:latin typeface="Segoe UI"/>
              </a:defRPr>
            </a:pPr>
            <a:r>
              <a:t>KEY METRICS SUMMARY</a:t>
            </a:r>
          </a:p>
          <a:p>
            <a:pPr>
              <a:spcBef>
                <a:spcPts val="400"/>
              </a:spcBef>
              <a:defRPr sz="1800" b="1">
                <a:solidFill>
                  <a:srgbClr val="0F172A"/>
                </a:solidFill>
                <a:latin typeface="Georgia"/>
              </a:defRPr>
            </a:pPr>
            <a:r>
              <a:t>CatBoost Outperforms All</a:t>
            </a:r>
          </a:p>
          <a:p>
            <a:pPr>
              <a:spcBef>
                <a:spcPts val="800"/>
              </a:spcBef>
              <a:defRPr sz="1200">
                <a:solidFill>
                  <a:srgbClr val="64748B"/>
                </a:solidFill>
                <a:latin typeface="Segoe UI"/>
              </a:defRPr>
            </a:pPr>
            <a:r>
              <a:t>• CatBoost Approach A: 84.55% Acc | 0.841 F1</a:t>
            </a:r>
            <a:br/>
            <a:r>
              <a:t>• CatBoost Approach B: 96.09% Acc | 0.959 F1</a:t>
            </a:r>
            <a:br/>
            <a:r>
              <a:t>• Majority-Class Baseline: 52.00%</a:t>
            </a:r>
            <a:br/>
            <a:br/>
            <a:r>
              <a:t>Takeaway Insight:</a:t>
            </a:r>
            <a:br/>
            <a:r>
              <a:t>Sensor-only models beat baseline by 19–32%. Adding object identity lifts every model by 12–17 percentage points.</a:t>
            </a:r>
          </a:p>
          <a:p>
            <a:pPr>
              <a:spcBef>
                <a:spcPts val="800"/>
              </a:spcBef>
              <a:defRPr sz="1150" b="1">
                <a:solidFill>
                  <a:srgbClr val="F59E0B"/>
                </a:solidFill>
                <a:latin typeface="Segoe UI"/>
              </a:defRPr>
            </a:pPr>
            <a:r>
              <a:t>Caution: Object identity accounts for ~40% of CatBoost feature importance!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Raw</a:t>
            </a:r>
          </a:p>
        </p:txBody>
      </p:sp>
      <p:sp>
        <p:nvSpPr>
          <p:cNvPr id="4" name="Rounded Rectangle 3"/>
          <p:cNvSpPr/>
          <p:nvPr/>
        </p:nvSpPr>
        <p:spPr>
          <a:xfrm>
            <a:off x="1938528"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Clean</a:t>
            </a:r>
          </a:p>
        </p:txBody>
      </p:sp>
      <p:sp>
        <p:nvSpPr>
          <p:cNvPr id="5" name="Rounded Rectangle 4"/>
          <p:cNvSpPr/>
          <p:nvPr/>
        </p:nvSpPr>
        <p:spPr>
          <a:xfrm>
            <a:off x="3145536"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Label</a:t>
            </a:r>
          </a:p>
        </p:txBody>
      </p:sp>
      <p:sp>
        <p:nvSpPr>
          <p:cNvPr id="6" name="Rounded Rectangle 5"/>
          <p:cNvSpPr/>
          <p:nvPr/>
        </p:nvSpPr>
        <p:spPr>
          <a:xfrm>
            <a:off x="4352544"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Window</a:t>
            </a:r>
          </a:p>
        </p:txBody>
      </p:sp>
      <p:sp>
        <p:nvSpPr>
          <p:cNvPr id="7" name="Rounded Rectangle 6"/>
          <p:cNvSpPr/>
          <p:nvPr/>
        </p:nvSpPr>
        <p:spPr>
          <a:xfrm>
            <a:off x="5559552"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Features</a:t>
            </a:r>
          </a:p>
        </p:txBody>
      </p:sp>
      <p:sp>
        <p:nvSpPr>
          <p:cNvPr id="8" name="Rounded Rectangle 7"/>
          <p:cNvSpPr/>
          <p:nvPr/>
        </p:nvSpPr>
        <p:spPr>
          <a:xfrm>
            <a:off x="6766560"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Explore</a:t>
            </a:r>
          </a:p>
        </p:txBody>
      </p:sp>
      <p:sp>
        <p:nvSpPr>
          <p:cNvPr id="9" name="Rounded Rectangle 8"/>
          <p:cNvSpPr/>
          <p:nvPr/>
        </p:nvSpPr>
        <p:spPr>
          <a:xfrm>
            <a:off x="7973568"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Models</a:t>
            </a:r>
          </a:p>
        </p:txBody>
      </p:sp>
      <p:sp>
        <p:nvSpPr>
          <p:cNvPr id="10" name="Rounded Rectangle 9"/>
          <p:cNvSpPr/>
          <p:nvPr/>
        </p:nvSpPr>
        <p:spPr>
          <a:xfrm>
            <a:off x="9180576" y="256032"/>
            <a:ext cx="1097280" cy="256032"/>
          </a:xfrm>
          <a:prstGeom prst="roundRect">
            <a:avLst/>
          </a:prstGeom>
          <a:solidFill>
            <a:srgbClr val="192646"/>
          </a:solidFill>
          <a:ln>
            <a:solidFill>
              <a:srgbClr val="28375F"/>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FFFFFF"/>
                </a:solidFill>
                <a:latin typeface="Segoe UI"/>
              </a:rPr>
              <a:t>Results</a:t>
            </a:r>
          </a:p>
        </p:txBody>
      </p:sp>
      <p:sp>
        <p:nvSpPr>
          <p:cNvPr id="11" name="Rounded Rectangle 10"/>
          <p:cNvSpPr/>
          <p:nvPr/>
        </p:nvSpPr>
        <p:spPr>
          <a:xfrm>
            <a:off x="10387584"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FFFFFF"/>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FFFFFF"/>
                </a:solidFill>
                <a:latin typeface="Georgia"/>
              </a:defRPr>
            </a:pPr>
            <a:r>
              <a:t>THE TWIST: High Accuracy Can Hide Complete Detection Failure</a:t>
            </a:r>
          </a:p>
          <a:p>
            <a:pPr>
              <a:defRPr sz="1250">
                <a:solidFill>
                  <a:srgbClr val="94A3B8"/>
                </a:solidFill>
                <a:latin typeface="Segoe UI"/>
              </a:defRPr>
            </a:pPr>
            <a:r>
              <a:t>On the 2.7% imbalanced Pringles Can, Approach B tree models caught exactly zero slips.</a:t>
            </a:r>
          </a:p>
        </p:txBody>
      </p:sp>
      <p:pic>
        <p:nvPicPr>
          <p:cNvPr id="13" name="Picture 12" descr="slide13_twist_two_panels.png"/>
          <p:cNvPicPr>
            <a:picLocks noChangeAspect="1"/>
          </p:cNvPicPr>
          <p:nvPr/>
        </p:nvPicPr>
        <p:blipFill>
          <a:blip r:embed="rId2"/>
          <a:stretch>
            <a:fillRect/>
          </a:stretch>
        </p:blipFill>
        <p:spPr>
          <a:xfrm>
            <a:off x="731520" y="1645920"/>
            <a:ext cx="10698480" cy="3913796"/>
          </a:xfrm>
          <a:prstGeom prst="rect">
            <a:avLst/>
          </a:prstGeom>
        </p:spPr>
      </p:pic>
      <p:sp>
        <p:nvSpPr>
          <p:cNvPr id="14" name="Rounded Rectangle 13"/>
          <p:cNvSpPr/>
          <p:nvPr/>
        </p:nvSpPr>
        <p:spPr>
          <a:xfrm>
            <a:off x="731520" y="5577840"/>
            <a:ext cx="10698480" cy="822960"/>
          </a:xfrm>
          <a:prstGeom prst="roundRect">
            <a:avLst/>
          </a:prstGeom>
          <a:solidFill>
            <a:srgbClr val="131E3C"/>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10332720" cy="731520"/>
          </a:xfrm>
          <a:prstGeom prst="rect">
            <a:avLst/>
          </a:prstGeom>
          <a:noFill/>
        </p:spPr>
        <p:txBody>
          <a:bodyPr wrap="square">
            <a:spAutoFit/>
          </a:bodyPr>
          <a:lstStyle/>
          <a:p>
            <a:pPr>
              <a:defRPr sz="1150" b="1">
                <a:solidFill>
                  <a:srgbClr val="FFFFFF"/>
                </a:solidFill>
                <a:latin typeface="Segoe UI"/>
              </a:defRPr>
            </a:pPr>
            <a:r>
              <a:t>The Scientific Verdict: In Approach B, tree models exploit the 97.3% stable prior and predict 0 slips. Approach A (Sensor-Only) catches 42–77% of slips purely from vibration dynamics. Sweeping threshold τ to 0.35 recovers recall to 61.4%.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Model Diagnostics: ROC Curves &amp; Confusion Matrices (Best Model)</a:t>
            </a:r>
          </a:p>
          <a:p>
            <a:pPr>
              <a:defRPr sz="1250">
                <a:solidFill>
                  <a:srgbClr val="64748B"/>
                </a:solidFill>
                <a:latin typeface="Segoe UI"/>
              </a:defRPr>
            </a:pPr>
            <a:r>
              <a:t>Section 10: Evaluating discriminative ability and contingency tables across out-of-fold predictions.</a:t>
            </a:r>
          </a:p>
        </p:txBody>
      </p:sp>
      <p:pic>
        <p:nvPicPr>
          <p:cNvPr id="13" name="Picture 12" descr="slide14_confusion_roc.png"/>
          <p:cNvPicPr>
            <a:picLocks noChangeAspect="1"/>
          </p:cNvPicPr>
          <p:nvPr/>
        </p:nvPicPr>
        <p:blipFill>
          <a:blip r:embed="rId2"/>
          <a:stretch>
            <a:fillRect/>
          </a:stretch>
        </p:blipFill>
        <p:spPr>
          <a:xfrm>
            <a:off x="731520" y="1645920"/>
            <a:ext cx="10698480" cy="4154393"/>
          </a:xfrm>
          <a:prstGeom prst="rect">
            <a:avLst/>
          </a:prstGeom>
        </p:spPr>
      </p:pic>
      <p:sp>
        <p:nvSpPr>
          <p:cNvPr id="14" name="Rounded Rectangle 13"/>
          <p:cNvSpPr/>
          <p:nvPr/>
        </p:nvSpPr>
        <p:spPr>
          <a:xfrm>
            <a:off x="731520" y="5577840"/>
            <a:ext cx="10698480" cy="822960"/>
          </a:xfrm>
          <a:prstGeom prst="roundRect">
            <a:avLst/>
          </a:prstGeom>
          <a:solidFill>
            <a:srgbClr val="FFFFFF"/>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10332720" cy="731520"/>
          </a:xfrm>
          <a:prstGeom prst="rect">
            <a:avLst/>
          </a:prstGeom>
          <a:noFill/>
        </p:spPr>
        <p:txBody>
          <a:bodyPr wrap="square">
            <a:spAutoFit/>
          </a:bodyPr>
          <a:lstStyle/>
          <a:p>
            <a:pPr>
              <a:defRPr sz="1150" b="1">
                <a:solidFill>
                  <a:srgbClr val="0F172A"/>
                </a:solidFill>
                <a:latin typeface="Segoe UI"/>
              </a:defRPr>
            </a:pPr>
            <a:r>
              <a:t>Diagnostic Summary: CatBoost Approach A achieves an AUC of 0.916 with 16,356 True Positives. Approach B reaches an AUC of 0.989, reducing false alarms from 3,424 down to 815.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Feature Importance: Object Identity Carries ~40% of the Weight</a:t>
            </a:r>
          </a:p>
          <a:p>
            <a:pPr>
              <a:defRPr sz="1250">
                <a:solidFill>
                  <a:srgbClr val="64748B"/>
                </a:solidFill>
                <a:latin typeface="Segoe UI"/>
              </a:defRPr>
            </a:pPr>
            <a:r>
              <a:t>Section 13: Revealing why Approach B scores higher — tree models heavily exploit object labels.</a:t>
            </a:r>
          </a:p>
        </p:txBody>
      </p:sp>
      <p:pic>
        <p:nvPicPr>
          <p:cNvPr id="13" name="Picture 12" descr="slide15_catboost_feature_importance.png"/>
          <p:cNvPicPr>
            <a:picLocks noChangeAspect="1"/>
          </p:cNvPicPr>
          <p:nvPr/>
        </p:nvPicPr>
        <p:blipFill>
          <a:blip r:embed="rId2"/>
          <a:stretch>
            <a:fillRect/>
          </a:stretch>
        </p:blipFill>
        <p:spPr>
          <a:xfrm>
            <a:off x="731520" y="1645920"/>
            <a:ext cx="10698480" cy="3911355"/>
          </a:xfrm>
          <a:prstGeom prst="rect">
            <a:avLst/>
          </a:prstGeom>
        </p:spPr>
      </p:pic>
      <p:sp>
        <p:nvSpPr>
          <p:cNvPr id="14" name="Rounded Rectangle 13"/>
          <p:cNvSpPr/>
          <p:nvPr/>
        </p:nvSpPr>
        <p:spPr>
          <a:xfrm>
            <a:off x="731520" y="5577840"/>
            <a:ext cx="10698480" cy="822960"/>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10332720" cy="731520"/>
          </a:xfrm>
          <a:prstGeom prst="rect">
            <a:avLst/>
          </a:prstGeom>
          <a:noFill/>
        </p:spPr>
        <p:txBody>
          <a:bodyPr wrap="square">
            <a:spAutoFit/>
          </a:bodyPr>
          <a:lstStyle/>
          <a:p>
            <a:pPr>
              <a:defRPr sz="1150" b="1">
                <a:solidFill>
                  <a:srgbClr val="0F172A"/>
                </a:solidFill>
                <a:latin typeface="Segoe UI"/>
              </a:defRPr>
            </a:pPr>
            <a:r>
              <a:t>Answering 'Why is Approach B so much better?': The object categorical feature alone accounts for ~40% of CatBoost's total importance! In Approach A, importance is distributed across gyroscope rotational rate and accelerometer RMS.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Object-Identity Delta Analysis: B Minus A Metric Impact</a:t>
            </a:r>
          </a:p>
          <a:p>
            <a:pPr>
              <a:defRPr sz="1250">
                <a:solidFill>
                  <a:srgbClr val="64748B"/>
                </a:solidFill>
                <a:latin typeface="Segoe UI"/>
              </a:defRPr>
            </a:pPr>
            <a:r>
              <a:t>Section 15: Quantifying the exact performance shift across all five machine learning models.</a:t>
            </a:r>
          </a:p>
        </p:txBody>
      </p:sp>
      <p:pic>
        <p:nvPicPr>
          <p:cNvPr id="13" name="Picture 12" descr="slide16_object_identity_deltas.png"/>
          <p:cNvPicPr>
            <a:picLocks noChangeAspect="1"/>
          </p:cNvPicPr>
          <p:nvPr/>
        </p:nvPicPr>
        <p:blipFill>
          <a:blip r:embed="rId2"/>
          <a:stretch>
            <a:fillRect/>
          </a:stretch>
        </p:blipFill>
        <p:spPr>
          <a:xfrm>
            <a:off x="731520" y="1645920"/>
            <a:ext cx="10698480" cy="5057463"/>
          </a:xfrm>
          <a:prstGeom prst="rect">
            <a:avLst/>
          </a:prstGeom>
        </p:spPr>
      </p:pic>
      <p:sp>
        <p:nvSpPr>
          <p:cNvPr id="14" name="Rounded Rectangle 13"/>
          <p:cNvSpPr/>
          <p:nvPr/>
        </p:nvSpPr>
        <p:spPr>
          <a:xfrm>
            <a:off x="731520" y="5577840"/>
            <a:ext cx="10698480" cy="822960"/>
          </a:xfrm>
          <a:prstGeom prst="roundRect">
            <a:avLst/>
          </a:prstGeom>
          <a:solidFill>
            <a:srgbClr val="FFFFFF"/>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10332720" cy="731520"/>
          </a:xfrm>
          <a:prstGeom prst="rect">
            <a:avLst/>
          </a:prstGeom>
          <a:noFill/>
        </p:spPr>
        <p:txBody>
          <a:bodyPr wrap="square">
            <a:spAutoFit/>
          </a:bodyPr>
          <a:lstStyle/>
          <a:p>
            <a:pPr>
              <a:defRPr sz="1150" b="1">
                <a:solidFill>
                  <a:srgbClr val="0F172A"/>
                </a:solidFill>
                <a:latin typeface="Segoe UI"/>
              </a:defRPr>
            </a:pPr>
            <a:r>
              <a:t>Universal Shift: Providing object identity increases accuracy by +11.7% to +17.5% and F1 by +11.8% to +18.1% across all 5 models, while reducing false positive rate by 12.4% to 16.3%.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Cross-Validation Audit: Zero Trial Leakage Verified Across 5 Folds</a:t>
            </a:r>
          </a:p>
          <a:p>
            <a:pPr>
              <a:defRPr sz="1250">
                <a:solidFill>
                  <a:srgbClr val="64748B"/>
                </a:solidFill>
                <a:latin typeface="Segoe UI"/>
              </a:defRPr>
            </a:pPr>
            <a:r>
              <a:t>Section 8: Empirical proof that train and test partitions share 0 trials, ensuring true generalizability.</a:t>
            </a:r>
          </a:p>
        </p:txBody>
      </p:sp>
      <p:graphicFrame>
        <p:nvGraphicFramePr>
          <p:cNvPr id="13" name="Table 12"/>
          <p:cNvGraphicFramePr>
            <a:graphicFrameLocks noGrp="1"/>
          </p:cNvGraphicFramePr>
          <p:nvPr/>
        </p:nvGraphicFramePr>
        <p:xfrm>
          <a:off x="731520" y="1828800"/>
          <a:ext cx="10698480" cy="3291840"/>
        </p:xfrm>
        <a:graphic>
          <a:graphicData uri="http://schemas.openxmlformats.org/drawingml/2006/table">
            <a:tbl>
              <a:tblPr firstRow="1" bandRow="1">
                <a:tableStyleId>{5C22544A-7EE6-4342-B048-85BDC9FD1C3A}</a:tableStyleId>
              </a:tblPr>
              <a:tblGrid>
                <a:gridCol w="1645920"/>
                <a:gridCol w="1828800"/>
                <a:gridCol w="1828800"/>
                <a:gridCol w="1828800"/>
                <a:gridCol w="1828800"/>
                <a:gridCol w="1737360"/>
              </a:tblGrid>
              <a:tr h="548640">
                <a:tc>
                  <a:txBody>
                    <a:bodyPr/>
                    <a:lstStyle/>
                    <a:p>
                      <a:pPr>
                        <a:defRPr sz="1200" b="1">
                          <a:solidFill>
                            <a:srgbClr val="FFFFFF"/>
                          </a:solidFill>
                          <a:latin typeface="Segoe UI"/>
                        </a:defRPr>
                      </a:pPr>
                      <a:r>
                        <a:t>Fold ID</a:t>
                      </a:r>
                    </a:p>
                  </a:txBody>
                  <a:tcPr>
                    <a:solidFill>
                      <a:srgbClr val="131E3C"/>
                    </a:solidFill>
                  </a:tcPr>
                </a:tc>
                <a:tc>
                  <a:txBody>
                    <a:bodyPr/>
                    <a:lstStyle/>
                    <a:p>
                      <a:pPr>
                        <a:defRPr sz="1200" b="1">
                          <a:solidFill>
                            <a:srgbClr val="FFFFFF"/>
                          </a:solidFill>
                          <a:latin typeface="Segoe UI"/>
                        </a:defRPr>
                      </a:pPr>
                      <a:r>
                        <a:t>Test Trials</a:t>
                      </a:r>
                    </a:p>
                  </a:txBody>
                  <a:tcPr>
                    <a:solidFill>
                      <a:srgbClr val="131E3C"/>
                    </a:solidFill>
                  </a:tcPr>
                </a:tc>
                <a:tc>
                  <a:txBody>
                    <a:bodyPr/>
                    <a:lstStyle/>
                    <a:p>
                      <a:pPr>
                        <a:defRPr sz="1200" b="1">
                          <a:solidFill>
                            <a:srgbClr val="FFFFFF"/>
                          </a:solidFill>
                          <a:latin typeface="Segoe UI"/>
                        </a:defRPr>
                      </a:pPr>
                      <a:r>
                        <a:t>Test Windows</a:t>
                      </a:r>
                    </a:p>
                  </a:txBody>
                  <a:tcPr>
                    <a:solidFill>
                      <a:srgbClr val="131E3C"/>
                    </a:solidFill>
                  </a:tcPr>
                </a:tc>
                <a:tc>
                  <a:txBody>
                    <a:bodyPr/>
                    <a:lstStyle/>
                    <a:p>
                      <a:pPr>
                        <a:defRPr sz="1200" b="1">
                          <a:solidFill>
                            <a:srgbClr val="FFFFFF"/>
                          </a:solidFill>
                          <a:latin typeface="Segoe UI"/>
                        </a:defRPr>
                      </a:pPr>
                      <a:r>
                        <a:t>Leakage Count</a:t>
                      </a:r>
                    </a:p>
                  </a:txBody>
                  <a:tcPr>
                    <a:solidFill>
                      <a:srgbClr val="131E3C"/>
                    </a:solidFill>
                  </a:tcPr>
                </a:tc>
                <a:tc>
                  <a:txBody>
                    <a:bodyPr/>
                    <a:lstStyle/>
                    <a:p>
                      <a:pPr>
                        <a:defRPr sz="1200" b="1">
                          <a:solidFill>
                            <a:srgbClr val="FFFFFF"/>
                          </a:solidFill>
                          <a:latin typeface="Segoe UI"/>
                        </a:defRPr>
                      </a:pPr>
                      <a:r>
                        <a:t>Slip Share (%)</a:t>
                      </a:r>
                    </a:p>
                  </a:txBody>
                  <a:tcPr>
                    <a:solidFill>
                      <a:srgbClr val="131E3C"/>
                    </a:solidFill>
                  </a:tcPr>
                </a:tc>
                <a:tc>
                  <a:txBody>
                    <a:bodyPr/>
                    <a:lstStyle/>
                    <a:p>
                      <a:pPr>
                        <a:defRPr sz="1200" b="1">
                          <a:solidFill>
                            <a:srgbClr val="FFFFFF"/>
                          </a:solidFill>
                          <a:latin typeface="Segoe UI"/>
                        </a:defRPr>
                      </a:pPr>
                      <a:r>
                        <a:t>CatBoost A F1</a:t>
                      </a:r>
                    </a:p>
                  </a:txBody>
                  <a:tcPr>
                    <a:solidFill>
                      <a:srgbClr val="131E3C"/>
                    </a:solidFill>
                  </a:tcPr>
                </a:tc>
              </a:tr>
              <a:tr h="548640">
                <a:tc>
                  <a:txBody>
                    <a:bodyPr/>
                    <a:lstStyle/>
                    <a:p>
                      <a:pPr>
                        <a:defRPr sz="1200" b="1">
                          <a:solidFill>
                            <a:srgbClr val="06B6D4"/>
                          </a:solidFill>
                          <a:latin typeface="Segoe UI"/>
                        </a:defRPr>
                      </a:pPr>
                      <a:r>
                        <a:t>Fold 1</a:t>
                      </a:r>
                    </a:p>
                  </a:txBody>
                  <a:tcPr>
                    <a:solidFill>
                      <a:srgbClr val="FFFFFF"/>
                    </a:solidFill>
                  </a:tcPr>
                </a:tc>
                <a:tc>
                  <a:txBody>
                    <a:bodyPr/>
                    <a:lstStyle/>
                    <a:p>
                      <a:pPr>
                        <a:defRPr sz="1200" b="0">
                          <a:solidFill>
                            <a:srgbClr val="0F172A"/>
                          </a:solidFill>
                          <a:latin typeface="Segoe UI"/>
                        </a:defRPr>
                      </a:pPr>
                      <a:r>
                        <a:t>39 Trials</a:t>
                      </a:r>
                    </a:p>
                  </a:txBody>
                  <a:tcPr>
                    <a:solidFill>
                      <a:srgbClr val="FFFFFF"/>
                    </a:solidFill>
                  </a:tcPr>
                </a:tc>
                <a:tc>
                  <a:txBody>
                    <a:bodyPr/>
                    <a:lstStyle/>
                    <a:p>
                      <a:pPr>
                        <a:defRPr sz="1200" b="0">
                          <a:solidFill>
                            <a:srgbClr val="0F172A"/>
                          </a:solidFill>
                          <a:latin typeface="Segoe UI"/>
                        </a:defRPr>
                      </a:pPr>
                      <a:r>
                        <a:t>7,890 Windows</a:t>
                      </a:r>
                    </a:p>
                  </a:txBody>
                  <a:tcPr>
                    <a:solidFill>
                      <a:srgbClr val="FFFFFF"/>
                    </a:solidFill>
                  </a:tcPr>
                </a:tc>
                <a:tc>
                  <a:txBody>
                    <a:bodyPr/>
                    <a:lstStyle/>
                    <a:p>
                      <a:pPr>
                        <a:defRPr sz="1200" b="1">
                          <a:solidFill>
                            <a:srgbClr val="0F172A"/>
                          </a:solidFill>
                          <a:latin typeface="Segoe UI"/>
                        </a:defRPr>
                      </a:pPr>
                      <a:r>
                        <a:t>0 Shared Trials</a:t>
                      </a:r>
                    </a:p>
                  </a:txBody>
                  <a:tcPr>
                    <a:solidFill>
                      <a:srgbClr val="FFFFFF"/>
                    </a:solidFill>
                  </a:tcPr>
                </a:tc>
                <a:tc>
                  <a:txBody>
                    <a:bodyPr/>
                    <a:lstStyle/>
                    <a:p>
                      <a:pPr>
                        <a:defRPr sz="1200" b="0">
                          <a:solidFill>
                            <a:srgbClr val="0F172A"/>
                          </a:solidFill>
                          <a:latin typeface="Segoe UI"/>
                        </a:defRPr>
                      </a:pPr>
                      <a:r>
                        <a:t>46.2% Slip</a:t>
                      </a:r>
                    </a:p>
                  </a:txBody>
                  <a:tcPr>
                    <a:solidFill>
                      <a:srgbClr val="FFFFFF"/>
                    </a:solidFill>
                  </a:tcPr>
                </a:tc>
                <a:tc>
                  <a:txBody>
                    <a:bodyPr/>
                    <a:lstStyle/>
                    <a:p>
                      <a:pPr>
                        <a:defRPr sz="1200" b="0">
                          <a:solidFill>
                            <a:srgbClr val="0F172A"/>
                          </a:solidFill>
                          <a:latin typeface="Segoe UI"/>
                        </a:defRPr>
                      </a:pPr>
                      <a:r>
                        <a:t>0.842 F1</a:t>
                      </a:r>
                    </a:p>
                  </a:txBody>
                  <a:tcPr>
                    <a:solidFill>
                      <a:srgbClr val="FFFFFF"/>
                    </a:solidFill>
                  </a:tcPr>
                </a:tc>
              </a:tr>
              <a:tr h="548640">
                <a:tc>
                  <a:txBody>
                    <a:bodyPr/>
                    <a:lstStyle/>
                    <a:p>
                      <a:pPr>
                        <a:defRPr sz="1200" b="1">
                          <a:solidFill>
                            <a:srgbClr val="06B6D4"/>
                          </a:solidFill>
                          <a:latin typeface="Segoe UI"/>
                        </a:defRPr>
                      </a:pPr>
                      <a:r>
                        <a:t>Fold 2</a:t>
                      </a:r>
                    </a:p>
                  </a:txBody>
                  <a:tcPr>
                    <a:solidFill>
                      <a:srgbClr val="F1F5F9"/>
                    </a:solidFill>
                  </a:tcPr>
                </a:tc>
                <a:tc>
                  <a:txBody>
                    <a:bodyPr/>
                    <a:lstStyle/>
                    <a:p>
                      <a:pPr>
                        <a:defRPr sz="1200" b="0">
                          <a:solidFill>
                            <a:srgbClr val="0F172A"/>
                          </a:solidFill>
                          <a:latin typeface="Segoe UI"/>
                        </a:defRPr>
                      </a:pPr>
                      <a:r>
                        <a:t>38 Trials</a:t>
                      </a:r>
                    </a:p>
                  </a:txBody>
                  <a:tcPr>
                    <a:solidFill>
                      <a:srgbClr val="F1F5F9"/>
                    </a:solidFill>
                  </a:tcPr>
                </a:tc>
                <a:tc>
                  <a:txBody>
                    <a:bodyPr/>
                    <a:lstStyle/>
                    <a:p>
                      <a:pPr>
                        <a:defRPr sz="1200" b="0">
                          <a:solidFill>
                            <a:srgbClr val="0F172A"/>
                          </a:solidFill>
                          <a:latin typeface="Segoe UI"/>
                        </a:defRPr>
                      </a:pPr>
                      <a:r>
                        <a:t>8,110 Windows</a:t>
                      </a:r>
                    </a:p>
                  </a:txBody>
                  <a:tcPr>
                    <a:solidFill>
                      <a:srgbClr val="F1F5F9"/>
                    </a:solidFill>
                  </a:tcPr>
                </a:tc>
                <a:tc>
                  <a:txBody>
                    <a:bodyPr/>
                    <a:lstStyle/>
                    <a:p>
                      <a:pPr>
                        <a:defRPr sz="1200" b="1">
                          <a:solidFill>
                            <a:srgbClr val="0F172A"/>
                          </a:solidFill>
                          <a:latin typeface="Segoe UI"/>
                        </a:defRPr>
                      </a:pPr>
                      <a:r>
                        <a:t>0 Shared Trials</a:t>
                      </a:r>
                    </a:p>
                  </a:txBody>
                  <a:tcPr>
                    <a:solidFill>
                      <a:srgbClr val="F1F5F9"/>
                    </a:solidFill>
                  </a:tcPr>
                </a:tc>
                <a:tc>
                  <a:txBody>
                    <a:bodyPr/>
                    <a:lstStyle/>
                    <a:p>
                      <a:pPr>
                        <a:defRPr sz="1200" b="0">
                          <a:solidFill>
                            <a:srgbClr val="0F172A"/>
                          </a:solidFill>
                          <a:latin typeface="Segoe UI"/>
                        </a:defRPr>
                      </a:pPr>
                      <a:r>
                        <a:t>51.8% Slip</a:t>
                      </a:r>
                    </a:p>
                  </a:txBody>
                  <a:tcPr>
                    <a:solidFill>
                      <a:srgbClr val="F1F5F9"/>
                    </a:solidFill>
                  </a:tcPr>
                </a:tc>
                <a:tc>
                  <a:txBody>
                    <a:bodyPr/>
                    <a:lstStyle/>
                    <a:p>
                      <a:pPr>
                        <a:defRPr sz="1200" b="0">
                          <a:solidFill>
                            <a:srgbClr val="0F172A"/>
                          </a:solidFill>
                          <a:latin typeface="Segoe UI"/>
                        </a:defRPr>
                      </a:pPr>
                      <a:r>
                        <a:t>0.849 F1</a:t>
                      </a:r>
                    </a:p>
                  </a:txBody>
                  <a:tcPr>
                    <a:solidFill>
                      <a:srgbClr val="F1F5F9"/>
                    </a:solidFill>
                  </a:tcPr>
                </a:tc>
              </a:tr>
              <a:tr h="548640">
                <a:tc>
                  <a:txBody>
                    <a:bodyPr/>
                    <a:lstStyle/>
                    <a:p>
                      <a:pPr>
                        <a:defRPr sz="1200" b="1">
                          <a:solidFill>
                            <a:srgbClr val="06B6D4"/>
                          </a:solidFill>
                          <a:latin typeface="Segoe UI"/>
                        </a:defRPr>
                      </a:pPr>
                      <a:r>
                        <a:t>Fold 3</a:t>
                      </a:r>
                    </a:p>
                  </a:txBody>
                  <a:tcPr>
                    <a:solidFill>
                      <a:srgbClr val="FFFFFF"/>
                    </a:solidFill>
                  </a:tcPr>
                </a:tc>
                <a:tc>
                  <a:txBody>
                    <a:bodyPr/>
                    <a:lstStyle/>
                    <a:p>
                      <a:pPr>
                        <a:defRPr sz="1200" b="0">
                          <a:solidFill>
                            <a:srgbClr val="0F172A"/>
                          </a:solidFill>
                          <a:latin typeface="Segoe UI"/>
                        </a:defRPr>
                      </a:pPr>
                      <a:r>
                        <a:t>39 Trials</a:t>
                      </a:r>
                    </a:p>
                  </a:txBody>
                  <a:tcPr>
                    <a:solidFill>
                      <a:srgbClr val="FFFFFF"/>
                    </a:solidFill>
                  </a:tcPr>
                </a:tc>
                <a:tc>
                  <a:txBody>
                    <a:bodyPr/>
                    <a:lstStyle/>
                    <a:p>
                      <a:pPr>
                        <a:defRPr sz="1200" b="0">
                          <a:solidFill>
                            <a:srgbClr val="0F172A"/>
                          </a:solidFill>
                          <a:latin typeface="Segoe UI"/>
                        </a:defRPr>
                      </a:pPr>
                      <a:r>
                        <a:t>7,940 Windows</a:t>
                      </a:r>
                    </a:p>
                  </a:txBody>
                  <a:tcPr>
                    <a:solidFill>
                      <a:srgbClr val="FFFFFF"/>
                    </a:solidFill>
                  </a:tcPr>
                </a:tc>
                <a:tc>
                  <a:txBody>
                    <a:bodyPr/>
                    <a:lstStyle/>
                    <a:p>
                      <a:pPr>
                        <a:defRPr sz="1200" b="1">
                          <a:solidFill>
                            <a:srgbClr val="0F172A"/>
                          </a:solidFill>
                          <a:latin typeface="Segoe UI"/>
                        </a:defRPr>
                      </a:pPr>
                      <a:r>
                        <a:t>0 Shared Trials</a:t>
                      </a:r>
                    </a:p>
                  </a:txBody>
                  <a:tcPr>
                    <a:solidFill>
                      <a:srgbClr val="FFFFFF"/>
                    </a:solidFill>
                  </a:tcPr>
                </a:tc>
                <a:tc>
                  <a:txBody>
                    <a:bodyPr/>
                    <a:lstStyle/>
                    <a:p>
                      <a:pPr>
                        <a:defRPr sz="1200" b="0">
                          <a:solidFill>
                            <a:srgbClr val="0F172A"/>
                          </a:solidFill>
                          <a:latin typeface="Segoe UI"/>
                        </a:defRPr>
                      </a:pPr>
                      <a:r>
                        <a:t>44.1% Slip</a:t>
                      </a:r>
                    </a:p>
                  </a:txBody>
                  <a:tcPr>
                    <a:solidFill>
                      <a:srgbClr val="FFFFFF"/>
                    </a:solidFill>
                  </a:tcPr>
                </a:tc>
                <a:tc>
                  <a:txBody>
                    <a:bodyPr/>
                    <a:lstStyle/>
                    <a:p>
                      <a:pPr>
                        <a:defRPr sz="1200" b="0">
                          <a:solidFill>
                            <a:srgbClr val="0F172A"/>
                          </a:solidFill>
                          <a:latin typeface="Segoe UI"/>
                        </a:defRPr>
                      </a:pPr>
                      <a:r>
                        <a:t>0.844 F1</a:t>
                      </a:r>
                    </a:p>
                  </a:txBody>
                  <a:tcPr>
                    <a:solidFill>
                      <a:srgbClr val="FFFFFF"/>
                    </a:solidFill>
                  </a:tcPr>
                </a:tc>
              </a:tr>
              <a:tr h="548640">
                <a:tc>
                  <a:txBody>
                    <a:bodyPr/>
                    <a:lstStyle/>
                    <a:p>
                      <a:pPr>
                        <a:defRPr sz="1200" b="1">
                          <a:solidFill>
                            <a:srgbClr val="06B6D4"/>
                          </a:solidFill>
                          <a:latin typeface="Segoe UI"/>
                        </a:defRPr>
                      </a:pPr>
                      <a:r>
                        <a:t>Fold 4</a:t>
                      </a:r>
                    </a:p>
                  </a:txBody>
                  <a:tcPr>
                    <a:solidFill>
                      <a:srgbClr val="F1F5F9"/>
                    </a:solidFill>
                  </a:tcPr>
                </a:tc>
                <a:tc>
                  <a:txBody>
                    <a:bodyPr/>
                    <a:lstStyle/>
                    <a:p>
                      <a:pPr>
                        <a:defRPr sz="1200" b="0">
                          <a:solidFill>
                            <a:srgbClr val="0F172A"/>
                          </a:solidFill>
                          <a:latin typeface="Segoe UI"/>
                        </a:defRPr>
                      </a:pPr>
                      <a:r>
                        <a:t>38 Trials</a:t>
                      </a:r>
                    </a:p>
                  </a:txBody>
                  <a:tcPr>
                    <a:solidFill>
                      <a:srgbClr val="F1F5F9"/>
                    </a:solidFill>
                  </a:tcPr>
                </a:tc>
                <a:tc>
                  <a:txBody>
                    <a:bodyPr/>
                    <a:lstStyle/>
                    <a:p>
                      <a:pPr>
                        <a:defRPr sz="1200" b="0">
                          <a:solidFill>
                            <a:srgbClr val="0F172A"/>
                          </a:solidFill>
                          <a:latin typeface="Segoe UI"/>
                        </a:defRPr>
                      </a:pPr>
                      <a:r>
                        <a:t>8,060 Windows</a:t>
                      </a:r>
                    </a:p>
                  </a:txBody>
                  <a:tcPr>
                    <a:solidFill>
                      <a:srgbClr val="F1F5F9"/>
                    </a:solidFill>
                  </a:tcPr>
                </a:tc>
                <a:tc>
                  <a:txBody>
                    <a:bodyPr/>
                    <a:lstStyle/>
                    <a:p>
                      <a:pPr>
                        <a:defRPr sz="1200" b="1">
                          <a:solidFill>
                            <a:srgbClr val="0F172A"/>
                          </a:solidFill>
                          <a:latin typeface="Segoe UI"/>
                        </a:defRPr>
                      </a:pPr>
                      <a:r>
                        <a:t>0 Shared Trials</a:t>
                      </a:r>
                    </a:p>
                  </a:txBody>
                  <a:tcPr>
                    <a:solidFill>
                      <a:srgbClr val="F1F5F9"/>
                    </a:solidFill>
                  </a:tcPr>
                </a:tc>
                <a:tc>
                  <a:txBody>
                    <a:bodyPr/>
                    <a:lstStyle/>
                    <a:p>
                      <a:pPr>
                        <a:defRPr sz="1200" b="0">
                          <a:solidFill>
                            <a:srgbClr val="0F172A"/>
                          </a:solidFill>
                          <a:latin typeface="Segoe UI"/>
                        </a:defRPr>
                      </a:pPr>
                      <a:r>
                        <a:t>53.2% Slip</a:t>
                      </a:r>
                    </a:p>
                  </a:txBody>
                  <a:tcPr>
                    <a:solidFill>
                      <a:srgbClr val="F1F5F9"/>
                    </a:solidFill>
                  </a:tcPr>
                </a:tc>
                <a:tc>
                  <a:txBody>
                    <a:bodyPr/>
                    <a:lstStyle/>
                    <a:p>
                      <a:pPr>
                        <a:defRPr sz="1200" b="0">
                          <a:solidFill>
                            <a:srgbClr val="0F172A"/>
                          </a:solidFill>
                          <a:latin typeface="Segoe UI"/>
                        </a:defRPr>
                      </a:pPr>
                      <a:r>
                        <a:t>0.848 F1</a:t>
                      </a:r>
                    </a:p>
                  </a:txBody>
                  <a:tcPr>
                    <a:solidFill>
                      <a:srgbClr val="F1F5F9"/>
                    </a:solidFill>
                  </a:tcPr>
                </a:tc>
              </a:tr>
              <a:tr h="548640">
                <a:tc>
                  <a:txBody>
                    <a:bodyPr/>
                    <a:lstStyle/>
                    <a:p>
                      <a:pPr>
                        <a:defRPr sz="1200" b="1">
                          <a:solidFill>
                            <a:srgbClr val="06B6D4"/>
                          </a:solidFill>
                          <a:latin typeface="Segoe UI"/>
                        </a:defRPr>
                      </a:pPr>
                      <a:r>
                        <a:t>Fold 5</a:t>
                      </a:r>
                    </a:p>
                  </a:txBody>
                  <a:tcPr>
                    <a:solidFill>
                      <a:srgbClr val="FFFFFF"/>
                    </a:solidFill>
                  </a:tcPr>
                </a:tc>
                <a:tc>
                  <a:txBody>
                    <a:bodyPr/>
                    <a:lstStyle/>
                    <a:p>
                      <a:pPr>
                        <a:defRPr sz="1200" b="0">
                          <a:solidFill>
                            <a:srgbClr val="0F172A"/>
                          </a:solidFill>
                          <a:latin typeface="Segoe UI"/>
                        </a:defRPr>
                      </a:pPr>
                      <a:r>
                        <a:t>38 Trials</a:t>
                      </a:r>
                    </a:p>
                  </a:txBody>
                  <a:tcPr>
                    <a:solidFill>
                      <a:srgbClr val="FFFFFF"/>
                    </a:solidFill>
                  </a:tcPr>
                </a:tc>
                <a:tc>
                  <a:txBody>
                    <a:bodyPr/>
                    <a:lstStyle/>
                    <a:p>
                      <a:pPr>
                        <a:defRPr sz="1200" b="0">
                          <a:solidFill>
                            <a:srgbClr val="0F172A"/>
                          </a:solidFill>
                          <a:latin typeface="Segoe UI"/>
                        </a:defRPr>
                      </a:pPr>
                      <a:r>
                        <a:t>8,022 Windows</a:t>
                      </a:r>
                    </a:p>
                  </a:txBody>
                  <a:tcPr>
                    <a:solidFill>
                      <a:srgbClr val="FFFFFF"/>
                    </a:solidFill>
                  </a:tcPr>
                </a:tc>
                <a:tc>
                  <a:txBody>
                    <a:bodyPr/>
                    <a:lstStyle/>
                    <a:p>
                      <a:pPr>
                        <a:defRPr sz="1200" b="1">
                          <a:solidFill>
                            <a:srgbClr val="0F172A"/>
                          </a:solidFill>
                          <a:latin typeface="Segoe UI"/>
                        </a:defRPr>
                      </a:pPr>
                      <a:r>
                        <a:t>0 Shared Trials</a:t>
                      </a:r>
                    </a:p>
                  </a:txBody>
                  <a:tcPr>
                    <a:solidFill>
                      <a:srgbClr val="FFFFFF"/>
                    </a:solidFill>
                  </a:tcPr>
                </a:tc>
                <a:tc>
                  <a:txBody>
                    <a:bodyPr/>
                    <a:lstStyle/>
                    <a:p>
                      <a:pPr>
                        <a:defRPr sz="1200" b="0">
                          <a:solidFill>
                            <a:srgbClr val="0F172A"/>
                          </a:solidFill>
                          <a:latin typeface="Segoe UI"/>
                        </a:defRPr>
                      </a:pPr>
                      <a:r>
                        <a:t>43.9% Slip</a:t>
                      </a:r>
                    </a:p>
                  </a:txBody>
                  <a:tcPr>
                    <a:solidFill>
                      <a:srgbClr val="FFFFFF"/>
                    </a:solidFill>
                  </a:tcPr>
                </a:tc>
                <a:tc>
                  <a:txBody>
                    <a:bodyPr/>
                    <a:lstStyle/>
                    <a:p>
                      <a:pPr>
                        <a:defRPr sz="1200" b="0">
                          <a:solidFill>
                            <a:srgbClr val="0F172A"/>
                          </a:solidFill>
                          <a:latin typeface="Segoe UI"/>
                        </a:defRPr>
                      </a:pPr>
                      <a:r>
                        <a:t>0.845 F1</a:t>
                      </a:r>
                    </a:p>
                  </a:txBody>
                  <a:tcPr>
                    <a:solidFill>
                      <a:srgbClr val="FFFFFF"/>
                    </a:solidFill>
                  </a:tcPr>
                </a:tc>
              </a:tr>
            </a:tbl>
          </a:graphicData>
        </a:graphic>
      </p:graphicFrame>
      <p:sp>
        <p:nvSpPr>
          <p:cNvPr id="14" name="Rounded Rectangle 13"/>
          <p:cNvSpPr/>
          <p:nvPr/>
        </p:nvSpPr>
        <p:spPr>
          <a:xfrm>
            <a:off x="731520" y="5394960"/>
            <a:ext cx="10698480" cy="82296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486400"/>
            <a:ext cx="10332720" cy="640080"/>
          </a:xfrm>
          <a:prstGeom prst="rect">
            <a:avLst/>
          </a:prstGeom>
          <a:noFill/>
        </p:spPr>
        <p:txBody>
          <a:bodyPr wrap="square">
            <a:spAutoFit/>
          </a:bodyPr>
          <a:lstStyle/>
          <a:p>
            <a:pPr>
              <a:defRPr sz="1250" b="1">
                <a:solidFill>
                  <a:srgbClr val="0F172A"/>
                </a:solidFill>
              </a:defRPr>
            </a:pPr>
            <a:r>
              <a:t>Zero-Leakage Guarantee: Exactly 0 shared trials across all folds. F1 variance is under 0.007 across all test splits, confirming rigorous statistical repeatability.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Raw</a:t>
            </a:r>
          </a:p>
        </p:txBody>
      </p:sp>
      <p:sp>
        <p:nvSpPr>
          <p:cNvPr id="4" name="Rounded Rectangle 3"/>
          <p:cNvSpPr/>
          <p:nvPr/>
        </p:nvSpPr>
        <p:spPr>
          <a:xfrm>
            <a:off x="193852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Clean</a:t>
            </a:r>
          </a:p>
        </p:txBody>
      </p:sp>
      <p:sp>
        <p:nvSpPr>
          <p:cNvPr id="5" name="Rounded Rectangle 4"/>
          <p:cNvSpPr/>
          <p:nvPr/>
        </p:nvSpPr>
        <p:spPr>
          <a:xfrm>
            <a:off x="314553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Label</a:t>
            </a:r>
          </a:p>
        </p:txBody>
      </p:sp>
      <p:sp>
        <p:nvSpPr>
          <p:cNvPr id="6" name="Rounded Rectangle 5"/>
          <p:cNvSpPr/>
          <p:nvPr/>
        </p:nvSpPr>
        <p:spPr>
          <a:xfrm>
            <a:off x="4352544"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Window</a:t>
            </a:r>
          </a:p>
        </p:txBody>
      </p:sp>
      <p:sp>
        <p:nvSpPr>
          <p:cNvPr id="7" name="Rounded Rectangle 6"/>
          <p:cNvSpPr/>
          <p:nvPr/>
        </p:nvSpPr>
        <p:spPr>
          <a:xfrm>
            <a:off x="5559552"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Features</a:t>
            </a:r>
          </a:p>
        </p:txBody>
      </p:sp>
      <p:sp>
        <p:nvSpPr>
          <p:cNvPr id="8" name="Rounded Rectangle 7"/>
          <p:cNvSpPr/>
          <p:nvPr/>
        </p:nvSpPr>
        <p:spPr>
          <a:xfrm>
            <a:off x="6766560"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Explore</a:t>
            </a:r>
          </a:p>
        </p:txBody>
      </p:sp>
      <p:sp>
        <p:nvSpPr>
          <p:cNvPr id="9" name="Rounded Rectangle 8"/>
          <p:cNvSpPr/>
          <p:nvPr/>
        </p:nvSpPr>
        <p:spPr>
          <a:xfrm>
            <a:off x="7973568"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Models</a:t>
            </a:r>
          </a:p>
        </p:txBody>
      </p:sp>
      <p:sp>
        <p:nvSpPr>
          <p:cNvPr id="10" name="Rounded Rectangle 9"/>
          <p:cNvSpPr/>
          <p:nvPr/>
        </p:nvSpPr>
        <p:spPr>
          <a:xfrm>
            <a:off x="9180576" y="256032"/>
            <a:ext cx="1097280" cy="25603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0">
                <a:solidFill>
                  <a:srgbClr val="64748B"/>
                </a:solidFill>
                <a:latin typeface="Segoe UI"/>
              </a:rPr>
              <a:t>Results</a:t>
            </a:r>
          </a:p>
        </p:txBody>
      </p:sp>
      <p:sp>
        <p:nvSpPr>
          <p:cNvPr id="11" name="Rounded Rectangle 10"/>
          <p:cNvSpPr/>
          <p:nvPr/>
        </p:nvSpPr>
        <p:spPr>
          <a:xfrm>
            <a:off x="10387584" y="256032"/>
            <a:ext cx="1097280" cy="256032"/>
          </a:xfrm>
          <a:prstGeom prst="round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none" tIns="0" bIns="0" lIns="0" rIns="0"/>
          <a:lstStyle/>
          <a:p>
            <a:pPr algn="ctr"/>
            <a:r>
              <a:rPr sz="1000" b="1">
                <a:solidFill>
                  <a:srgbClr val="0F172A"/>
                </a:solidFill>
                <a:latin typeface="Segoe UI"/>
              </a:rPr>
              <a:t>Twist</a:t>
            </a:r>
          </a:p>
        </p:txBody>
      </p:sp>
      <p:sp>
        <p:nvSpPr>
          <p:cNvPr id="12" name="TextBox 11"/>
          <p:cNvSpPr txBox="1"/>
          <p:nvPr/>
        </p:nvSpPr>
        <p:spPr>
          <a:xfrm>
            <a:off x="731520" y="658368"/>
            <a:ext cx="10698480" cy="868680"/>
          </a:xfrm>
          <a:prstGeom prst="rect">
            <a:avLst/>
          </a:prstGeom>
          <a:noFill/>
        </p:spPr>
        <p:txBody>
          <a:bodyPr wrap="square" lIns="0" tIns="0" rIns="0" bIns="0">
            <a:spAutoFit/>
          </a:bodyPr>
          <a:lstStyle/>
          <a:p>
            <a:pPr>
              <a:defRPr sz="2300" b="1">
                <a:solidFill>
                  <a:srgbClr val="0F172A"/>
                </a:solidFill>
                <a:latin typeface="Georgia"/>
              </a:defRPr>
            </a:pPr>
            <a:r>
              <a:t>Conclusions: Robust Physical Sensing Trumps Memorized Priors</a:t>
            </a:r>
          </a:p>
          <a:p>
            <a:pPr>
              <a:defRPr sz="1250">
                <a:solidFill>
                  <a:srgbClr val="64748B"/>
                </a:solidFill>
                <a:latin typeface="Segoe UI"/>
              </a:defRPr>
            </a:pPr>
            <a:r>
              <a:t>Three key findings and the path forward for closed-loop robotic grasping.</a:t>
            </a:r>
          </a:p>
        </p:txBody>
      </p:sp>
      <p:sp>
        <p:nvSpPr>
          <p:cNvPr id="13" name="Rounded Rectangle 12"/>
          <p:cNvSpPr/>
          <p:nvPr/>
        </p:nvSpPr>
        <p:spPr>
          <a:xfrm>
            <a:off x="731520" y="1828800"/>
            <a:ext cx="3337560" cy="2926080"/>
          </a:xfrm>
          <a:prstGeom prst="roundRect">
            <a:avLst/>
          </a:prstGeom>
          <a:solidFill>
            <a:srgbClr val="FFFFFF"/>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011680"/>
            <a:ext cx="2971800" cy="2560320"/>
          </a:xfrm>
          <a:prstGeom prst="rect">
            <a:avLst/>
          </a:prstGeom>
          <a:noFill/>
        </p:spPr>
        <p:txBody>
          <a:bodyPr wrap="square">
            <a:spAutoFit/>
          </a:bodyPr>
          <a:lstStyle/>
          <a:p>
            <a:pPr>
              <a:defRPr sz="1800" b="1">
                <a:solidFill>
                  <a:srgbClr val="06B6D4"/>
                </a:solidFill>
                <a:latin typeface="Georgia"/>
              </a:defRPr>
            </a:pPr>
            <a:r>
              <a:t>1. Data to Features</a:t>
            </a:r>
          </a:p>
          <a:p>
            <a:pPr>
              <a:spcBef>
                <a:spcPts val="400"/>
              </a:spcBef>
              <a:defRPr sz="1200" b="1">
                <a:solidFill>
                  <a:srgbClr val="0F172A"/>
                </a:solidFill>
                <a:latin typeface="Segoe UI"/>
              </a:defRPr>
            </a:pPr>
            <a:r>
              <a:t>84 Features Transform Telemetry</a:t>
            </a:r>
          </a:p>
          <a:p>
            <a:pPr>
              <a:spcBef>
                <a:spcPts val="1000"/>
              </a:spcBef>
              <a:defRPr sz="1250">
                <a:solidFill>
                  <a:srgbClr val="64748B"/>
                </a:solidFill>
                <a:latin typeface="Segoe UI"/>
              </a:defRPr>
            </a:pPr>
            <a:r>
              <a:t>Hand-crafted statistical aggregations successfully replace deep neural networks, enabling lightweight, millisecond-latency edge tactile slip classification.</a:t>
            </a:r>
          </a:p>
        </p:txBody>
      </p:sp>
      <p:sp>
        <p:nvSpPr>
          <p:cNvPr id="15" name="Rounded Rectangle 14"/>
          <p:cNvSpPr/>
          <p:nvPr/>
        </p:nvSpPr>
        <p:spPr>
          <a:xfrm>
            <a:off x="4416552" y="1828800"/>
            <a:ext cx="3337560" cy="2926080"/>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9432" y="2011680"/>
            <a:ext cx="2971800" cy="2560320"/>
          </a:xfrm>
          <a:prstGeom prst="rect">
            <a:avLst/>
          </a:prstGeom>
          <a:noFill/>
        </p:spPr>
        <p:txBody>
          <a:bodyPr wrap="square">
            <a:spAutoFit/>
          </a:bodyPr>
          <a:lstStyle/>
          <a:p>
            <a:pPr>
              <a:defRPr sz="1800" b="1">
                <a:solidFill>
                  <a:srgbClr val="8B5CF6"/>
                </a:solidFill>
                <a:latin typeface="Georgia"/>
              </a:defRPr>
            </a:pPr>
            <a:r>
              <a:t>2. Model Benchmark</a:t>
            </a:r>
          </a:p>
          <a:p>
            <a:pPr>
              <a:spcBef>
                <a:spcPts val="400"/>
              </a:spcBef>
              <a:defRPr sz="1200" b="1">
                <a:solidFill>
                  <a:srgbClr val="0F172A"/>
                </a:solidFill>
                <a:latin typeface="Segoe UI"/>
              </a:defRPr>
            </a:pPr>
            <a:r>
              <a:t>CatBoost Achieves 84.6% / 96.1%</a:t>
            </a:r>
          </a:p>
          <a:p>
            <a:pPr>
              <a:spcBef>
                <a:spcPts val="1000"/>
              </a:spcBef>
              <a:defRPr sz="1250">
                <a:solidFill>
                  <a:srgbClr val="64748B"/>
                </a:solidFill>
                <a:latin typeface="Segoe UI"/>
              </a:defRPr>
            </a:pPr>
            <a:r>
              <a:t>Symmetric decision trees prevent overfitting and excel under GroupKFold rigor. Adding object identity boosts accuracy but risks prior memorization.</a:t>
            </a:r>
          </a:p>
        </p:txBody>
      </p:sp>
      <p:sp>
        <p:nvSpPr>
          <p:cNvPr id="17" name="Rounded Rectangle 16"/>
          <p:cNvSpPr/>
          <p:nvPr/>
        </p:nvSpPr>
        <p:spPr>
          <a:xfrm>
            <a:off x="8101584" y="1828800"/>
            <a:ext cx="3337560" cy="292608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4" y="2011680"/>
            <a:ext cx="2971800" cy="2560320"/>
          </a:xfrm>
          <a:prstGeom prst="rect">
            <a:avLst/>
          </a:prstGeom>
          <a:noFill/>
        </p:spPr>
        <p:txBody>
          <a:bodyPr wrap="square">
            <a:spAutoFit/>
          </a:bodyPr>
          <a:lstStyle/>
          <a:p>
            <a:pPr>
              <a:defRPr sz="1800" b="1">
                <a:solidFill>
                  <a:srgbClr val="EF4444"/>
                </a:solidFill>
                <a:latin typeface="Georgia"/>
              </a:defRPr>
            </a:pPr>
            <a:r>
              <a:t>3. Scientific Honesty</a:t>
            </a:r>
          </a:p>
          <a:p>
            <a:pPr>
              <a:spcBef>
                <a:spcPts val="400"/>
              </a:spcBef>
              <a:defRPr sz="1200" b="1">
                <a:solidFill>
                  <a:srgbClr val="0F172A"/>
                </a:solidFill>
                <a:latin typeface="Segoe UI"/>
              </a:defRPr>
            </a:pPr>
            <a:r>
              <a:t>Overall Accuracy Hides Failure</a:t>
            </a:r>
          </a:p>
          <a:p>
            <a:pPr>
              <a:spcBef>
                <a:spcPts val="1000"/>
              </a:spcBef>
              <a:defRPr sz="1250">
                <a:solidFill>
                  <a:srgbClr val="64748B"/>
                </a:solidFill>
                <a:latin typeface="Segoe UI"/>
              </a:defRPr>
            </a:pPr>
            <a:r>
              <a:t>Per-object metrics expose class imbalance pitfalls. Approach A provides genuine generalizable tactile physics, while Approach B is vulnerable to unseen objects.</a:t>
            </a:r>
          </a:p>
        </p:txBody>
      </p:sp>
      <p:sp>
        <p:nvSpPr>
          <p:cNvPr id="19" name="Rounded Rectangle 18"/>
          <p:cNvSpPr/>
          <p:nvPr/>
        </p:nvSpPr>
        <p:spPr>
          <a:xfrm>
            <a:off x="731520" y="5029200"/>
            <a:ext cx="10698480" cy="12801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166360"/>
            <a:ext cx="10149840" cy="1005840"/>
          </a:xfrm>
          <a:prstGeom prst="rect">
            <a:avLst/>
          </a:prstGeom>
          <a:noFill/>
        </p:spPr>
        <p:txBody>
          <a:bodyPr wrap="square">
            <a:spAutoFit/>
          </a:bodyPr>
          <a:lstStyle/>
          <a:p>
            <a:pPr>
              <a:defRPr sz="1100" b="1">
                <a:solidFill>
                  <a:srgbClr val="F59E0B"/>
                </a:solidFill>
                <a:latin typeface="Segoe UI"/>
              </a:defRPr>
            </a:pPr>
            <a:r>
              <a:t>FUTURE WORK &amp; CLOSED-LOOP DEPLOYMENT:</a:t>
            </a:r>
          </a:p>
          <a:p>
            <a:pPr>
              <a:spcBef>
                <a:spcPts val="400"/>
              </a:spcBef>
              <a:defRPr sz="1200">
                <a:solidFill>
                  <a:srgbClr val="0F172A"/>
                </a:solidFill>
                <a:latin typeface="Segoe UI"/>
              </a:defRPr>
            </a:pPr>
            <a:r>
              <a:t>• Dynamic Threshold Tuning: Adapt decision threshold (τ = 0.35) for rare-slip objects to maximize recall.</a:t>
            </a:r>
            <a:br/>
            <a:r>
              <a:t>• Leave-One-Object-Out (LOOO): Test zero-shot generalization across novel object geometries.</a:t>
            </a:r>
            <a:br/>
            <a:r>
              <a:t>• Physical Robotic Deployment: Integrate CatBoost onto embedded microcontrollers for closed-loop reactive grip tightening.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